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1633061" y="1295400"/>
            <a:ext cx="5877878" cy="1143000"/>
          </a:xfrm>
          <a:prstGeom prst="rect">
            <a:avLst/>
          </a:prstGeom>
          <a:noFill/>
          <a:ln/>
        </p:spPr>
        <p:txBody>
          <a:bodyPr wrap="square" lIns="0" tIns="0" rIns="0" bIns="0" rtlCol="0" anchor="t"/>
          <a:lstStyle/>
          <a:p>
            <a:pPr algn="ctr" indent="0" marL="0">
              <a:lnSpc>
                <a:spcPts val="4500"/>
              </a:lnSpc>
              <a:spcAft>
                <a:spcPts val="1500"/>
              </a:spcAft>
              <a:buNone/>
            </a:pPr>
            <a:r>
              <a:rPr lang="en-US" sz="4500" b="1" dirty="0">
                <a:solidFill>
                  <a:srgbClr val="FFFFFF"/>
                </a:solidFill>
                <a:latin typeface="Arial" pitchFamily="34" charset="0"/>
                <a:ea typeface="Arial" pitchFamily="34" charset="-122"/>
                <a:cs typeface="Arial" pitchFamily="34" charset="-120"/>
              </a:rPr>
              <a:t>Enterprise GenAI Security Architecture</a:t>
            </a:r>
            <a:endParaRPr lang="en-US" sz="4500" dirty="0"/>
          </a:p>
        </p:txBody>
      </p:sp>
      <p:sp>
        <p:nvSpPr>
          <p:cNvPr id="3" name="Text 1"/>
          <p:cNvSpPr/>
          <p:nvPr/>
        </p:nvSpPr>
        <p:spPr>
          <a:xfrm>
            <a:off x="1633061" y="2628900"/>
            <a:ext cx="5877878" cy="304800"/>
          </a:xfrm>
          <a:prstGeom prst="rect">
            <a:avLst/>
          </a:prstGeom>
          <a:noFill/>
          <a:ln/>
        </p:spPr>
        <p:txBody>
          <a:bodyPr wrap="square" lIns="0" tIns="0" rIns="0" bIns="0" rtlCol="0" anchor="t"/>
          <a:lstStyle/>
          <a:p>
            <a:pPr algn="ctr" indent="0" marL="0">
              <a:lnSpc>
                <a:spcPts val="2400"/>
              </a:lnSpc>
              <a:spcBef>
                <a:spcPts val="300"/>
              </a:spcBef>
              <a:spcAft>
                <a:spcPts val="2400"/>
              </a:spcAft>
              <a:buNone/>
            </a:pPr>
            <a:r>
              <a:rPr lang="en-US" sz="1800" dirty="0">
                <a:solidFill>
                  <a:srgbClr val="FFFFFF"/>
                </a:solidFill>
                <a:latin typeface="Arial" pitchFamily="34" charset="0"/>
                <a:ea typeface="Arial" pitchFamily="34" charset="-122"/>
                <a:cs typeface="Arial" pitchFamily="34" charset="-120"/>
              </a:rPr>
              <a:t>Securing Generative AI at Scale</a:t>
            </a:r>
            <a:endParaRPr lang="en-US" sz="1800" dirty="0"/>
          </a:p>
        </p:txBody>
      </p:sp>
      <p:sp>
        <p:nvSpPr>
          <p:cNvPr id="4" name="Text 2"/>
          <p:cNvSpPr/>
          <p:nvPr/>
        </p:nvSpPr>
        <p:spPr>
          <a:xfrm>
            <a:off x="1633061" y="3238500"/>
            <a:ext cx="5877878" cy="266700"/>
          </a:xfrm>
          <a:prstGeom prst="rect">
            <a:avLst/>
          </a:prstGeom>
          <a:noFill/>
          <a:ln/>
        </p:spPr>
        <p:txBody>
          <a:bodyPr wrap="square" lIns="0" tIns="0" rIns="0" bIns="0" rtlCol="0" anchor="t"/>
          <a:lstStyle/>
          <a:p>
            <a:pPr algn="ctr" indent="0" marL="0">
              <a:lnSpc>
                <a:spcPts val="2100"/>
              </a:lnSpc>
              <a:spcBef>
                <a:spcPts val="300"/>
              </a:spcBef>
              <a:spcAft>
                <a:spcPts val="300"/>
              </a:spcAft>
              <a:buNone/>
            </a:pPr>
            <a:r>
              <a:rPr lang="en-US" sz="1500" dirty="0">
                <a:solidFill>
                  <a:srgbClr val="FFFFFF"/>
                </a:solidFill>
                <a:latin typeface="Arial" pitchFamily="34" charset="0"/>
                <a:ea typeface="Arial" pitchFamily="34" charset="-122"/>
                <a:cs typeface="Arial" pitchFamily="34" charset="-120"/>
              </a:rPr>
              <a:t>Security Leadership Briefing</a:t>
            </a:r>
            <a:endParaRPr lang="en-US" sz="1500" dirty="0"/>
          </a:p>
        </p:txBody>
      </p:sp>
      <p:sp>
        <p:nvSpPr>
          <p:cNvPr id="5" name="Text 3"/>
          <p:cNvSpPr/>
          <p:nvPr/>
        </p:nvSpPr>
        <p:spPr>
          <a:xfrm>
            <a:off x="1633061" y="3543300"/>
            <a:ext cx="5877878" cy="266700"/>
          </a:xfrm>
          <a:prstGeom prst="rect">
            <a:avLst/>
          </a:prstGeom>
          <a:noFill/>
          <a:ln/>
        </p:spPr>
        <p:txBody>
          <a:bodyPr wrap="square" lIns="0" tIns="0" rIns="0" bIns="0" rtlCol="0" anchor="t"/>
          <a:lstStyle/>
          <a:p>
            <a:pPr algn="ctr" indent="0" marL="0">
              <a:lnSpc>
                <a:spcPts val="2100"/>
              </a:lnSpc>
              <a:spcBef>
                <a:spcPts val="300"/>
              </a:spcBef>
              <a:spcAft>
                <a:spcPts val="300"/>
              </a:spcAft>
              <a:buNone/>
            </a:pPr>
            <a:r>
              <a:rPr lang="en-US" sz="1500" dirty="0">
                <a:solidFill>
                  <a:srgbClr val="FFFFFF"/>
                </a:solidFill>
                <a:latin typeface="Arial" pitchFamily="34" charset="0"/>
                <a:ea typeface="Arial" pitchFamily="34" charset="-122"/>
                <a:cs typeface="Arial" pitchFamily="34" charset="-120"/>
              </a:rPr>
              <a:t>January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228600"/>
            <a:ext cx="4478845" cy="381000"/>
          </a:xfrm>
          <a:prstGeom prst="rect">
            <a:avLst/>
          </a:prstGeom>
          <a:noFill/>
          <a:ln/>
        </p:spPr>
        <p:txBody>
          <a:bodyPr wrap="square" lIns="0" tIns="0" rIns="0" bIns="0" rtlCol="0" anchor="t"/>
          <a:lstStyle/>
          <a:p>
            <a:pPr algn="l" indent="0" marL="0">
              <a:lnSpc>
                <a:spcPts val="3000"/>
              </a:lnSpc>
              <a:spcAft>
                <a:spcPts val="450"/>
              </a:spcAft>
              <a:buNone/>
            </a:pPr>
            <a:r>
              <a:rPr lang="en-US" sz="2700" b="1" dirty="0">
                <a:solidFill>
                  <a:srgbClr val="1E3A8A"/>
                </a:solidFill>
                <a:latin typeface="Arial" pitchFamily="34" charset="0"/>
                <a:ea typeface="Arial" pitchFamily="34" charset="-122"/>
                <a:cs typeface="Arial" pitchFamily="34" charset="-120"/>
              </a:rPr>
              <a:t>Executive Summary</a:t>
            </a:r>
            <a:endParaRPr lang="en-US" sz="2700" dirty="0"/>
          </a:p>
        </p:txBody>
      </p:sp>
      <p:sp>
        <p:nvSpPr>
          <p:cNvPr id="4" name="Text 2"/>
          <p:cNvSpPr/>
          <p:nvPr/>
        </p:nvSpPr>
        <p:spPr>
          <a:xfrm>
            <a:off x="381000" y="1933575"/>
            <a:ext cx="76200" cy="76200"/>
          </a:xfrm>
          <a:prstGeom prst="roundRect">
            <a:avLst>
              <a:gd name="adj" fmla="val 1200000"/>
            </a:avLst>
          </a:prstGeom>
          <a:solidFill>
            <a:srgbClr val="0D9488"/>
          </a:solidFill>
          <a:ln/>
        </p:spPr>
        <p:txBody>
          <a:bodyPr wrap="square" rtlCol="0" anchor="ctr"/>
          <a:lstStyle/>
          <a:p>
            <a:pPr indent="0" marL="0">
              <a:buNone/>
            </a:pPr>
            <a:endParaRPr lang="en-US" dirty="0"/>
          </a:p>
        </p:txBody>
      </p:sp>
      <p:sp>
        <p:nvSpPr>
          <p:cNvPr id="5" name="Text 3"/>
          <p:cNvSpPr/>
          <p:nvPr/>
        </p:nvSpPr>
        <p:spPr>
          <a:xfrm>
            <a:off x="571500" y="1914525"/>
            <a:ext cx="847191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Governance-First Approach:</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Technology Selection Process (TSP) ensures all LLM models meet enterprise security standards before deployment</a:t>
            </a:r>
            <a:endParaRPr lang="en-US" sz="1050" dirty="0"/>
          </a:p>
        </p:txBody>
      </p:sp>
      <p:sp>
        <p:nvSpPr>
          <p:cNvPr id="6" name="Text 4"/>
          <p:cNvSpPr/>
          <p:nvPr/>
        </p:nvSpPr>
        <p:spPr>
          <a:xfrm>
            <a:off x="381000" y="2505075"/>
            <a:ext cx="76200" cy="76200"/>
          </a:xfrm>
          <a:prstGeom prst="roundRect">
            <a:avLst>
              <a:gd name="adj" fmla="val 1200000"/>
            </a:avLst>
          </a:prstGeom>
          <a:solidFill>
            <a:srgbClr val="0D9488"/>
          </a:solidFill>
          <a:ln/>
        </p:spPr>
        <p:txBody>
          <a:bodyPr wrap="square" rtlCol="0" anchor="ctr"/>
          <a:lstStyle/>
          <a:p>
            <a:pPr indent="0" marL="0">
              <a:buNone/>
            </a:pPr>
            <a:endParaRPr lang="en-US" dirty="0"/>
          </a:p>
        </p:txBody>
      </p:sp>
      <p:sp>
        <p:nvSpPr>
          <p:cNvPr id="7" name="Text 5"/>
          <p:cNvSpPr/>
          <p:nvPr/>
        </p:nvSpPr>
        <p:spPr>
          <a:xfrm>
            <a:off x="571500" y="2486025"/>
            <a:ext cx="8471916"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Defense in Depth:</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Multi-layered security through AI Gateway (Portkey), AWS Bedrock Guardrails, and centralized SIEM monitoring</a:t>
            </a:r>
            <a:endParaRPr lang="en-US" sz="1050" dirty="0"/>
          </a:p>
        </p:txBody>
      </p:sp>
      <p:sp>
        <p:nvSpPr>
          <p:cNvPr id="8" name="Text 6"/>
          <p:cNvSpPr/>
          <p:nvPr/>
        </p:nvSpPr>
        <p:spPr>
          <a:xfrm>
            <a:off x="381000" y="2886075"/>
            <a:ext cx="76200" cy="76200"/>
          </a:xfrm>
          <a:prstGeom prst="roundRect">
            <a:avLst>
              <a:gd name="adj" fmla="val 1200000"/>
            </a:avLst>
          </a:prstGeom>
          <a:solidFill>
            <a:srgbClr val="0D9488"/>
          </a:solidFill>
          <a:ln/>
        </p:spPr>
        <p:txBody>
          <a:bodyPr wrap="square" rtlCol="0" anchor="ctr"/>
          <a:lstStyle/>
          <a:p>
            <a:pPr indent="0" marL="0">
              <a:buNone/>
            </a:pPr>
            <a:endParaRPr lang="en-US" dirty="0"/>
          </a:p>
        </p:txBody>
      </p:sp>
      <p:sp>
        <p:nvSpPr>
          <p:cNvPr id="9" name="Text 7"/>
          <p:cNvSpPr/>
          <p:nvPr/>
        </p:nvSpPr>
        <p:spPr>
          <a:xfrm>
            <a:off x="571500" y="2867025"/>
            <a:ext cx="8471916"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Platform-Based Control:</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AIDome platform provides centralized application onboarding with RBAC, rate limiting, and cost controls</a:t>
            </a:r>
            <a:endParaRPr lang="en-US" sz="1050" dirty="0"/>
          </a:p>
        </p:txBody>
      </p:sp>
      <p:sp>
        <p:nvSpPr>
          <p:cNvPr id="10" name="Text 8"/>
          <p:cNvSpPr/>
          <p:nvPr/>
        </p:nvSpPr>
        <p:spPr>
          <a:xfrm>
            <a:off x="381000" y="3267075"/>
            <a:ext cx="76200" cy="76200"/>
          </a:xfrm>
          <a:prstGeom prst="roundRect">
            <a:avLst>
              <a:gd name="adj" fmla="val 1200000"/>
            </a:avLst>
          </a:prstGeom>
          <a:solidFill>
            <a:srgbClr val="0D9488"/>
          </a:solidFill>
          <a:ln/>
        </p:spPr>
        <p:txBody>
          <a:bodyPr wrap="square" rtlCol="0" anchor="ctr"/>
          <a:lstStyle/>
          <a:p>
            <a:pPr indent="0" marL="0">
              <a:buNone/>
            </a:pPr>
            <a:endParaRPr lang="en-US" dirty="0"/>
          </a:p>
        </p:txBody>
      </p:sp>
      <p:sp>
        <p:nvSpPr>
          <p:cNvPr id="11" name="Text 9"/>
          <p:cNvSpPr/>
          <p:nvPr/>
        </p:nvSpPr>
        <p:spPr>
          <a:xfrm>
            <a:off x="571500" y="3248025"/>
            <a:ext cx="847191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Compliance &amp; Auditability:</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Enterprise governance policies enforced across all AI applications with comprehensive logging and anomaly detection</a:t>
            </a:r>
            <a:endParaRPr lang="en-US" sz="1050" dirty="0"/>
          </a:p>
        </p:txBody>
      </p:sp>
      <p:sp>
        <p:nvSpPr>
          <p:cNvPr id="12" name="Text 10"/>
          <p:cNvSpPr/>
          <p:nvPr/>
        </p:nvSpPr>
        <p:spPr>
          <a:xfrm>
            <a:off x="381000" y="3838575"/>
            <a:ext cx="76200" cy="76200"/>
          </a:xfrm>
          <a:prstGeom prst="roundRect">
            <a:avLst>
              <a:gd name="adj" fmla="val 1200000"/>
            </a:avLst>
          </a:prstGeom>
          <a:solidFill>
            <a:srgbClr val="0D9488"/>
          </a:solidFill>
          <a:ln/>
        </p:spPr>
        <p:txBody>
          <a:bodyPr wrap="square" rtlCol="0" anchor="ctr"/>
          <a:lstStyle/>
          <a:p>
            <a:pPr indent="0" marL="0">
              <a:buNone/>
            </a:pPr>
            <a:endParaRPr lang="en-US" dirty="0"/>
          </a:p>
        </p:txBody>
      </p:sp>
      <p:sp>
        <p:nvSpPr>
          <p:cNvPr id="13" name="Text 11"/>
          <p:cNvSpPr/>
          <p:nvPr/>
        </p:nvSpPr>
        <p:spPr>
          <a:xfrm>
            <a:off x="571500" y="3819525"/>
            <a:ext cx="8471916"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AWS-Native Architecture:</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Leverages AWS Bedrock for model hosting with built-in high availability and planned multi-region resilience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342900"/>
            <a:ext cx="4478845" cy="381000"/>
          </a:xfrm>
          <a:prstGeom prst="rect">
            <a:avLst/>
          </a:prstGeom>
          <a:noFill/>
          <a:ln/>
        </p:spPr>
        <p:txBody>
          <a:bodyPr wrap="square" lIns="0" tIns="0" rIns="0" bIns="0" rtlCol="0" anchor="t"/>
          <a:lstStyle/>
          <a:p>
            <a:pPr algn="l" indent="0" marL="0">
              <a:lnSpc>
                <a:spcPts val="3000"/>
              </a:lnSpc>
              <a:spcAft>
                <a:spcPts val="600"/>
              </a:spcAft>
              <a:buNone/>
            </a:pPr>
            <a:r>
              <a:rPr lang="en-US" sz="2700" b="1" dirty="0">
                <a:solidFill>
                  <a:srgbClr val="1E3A8A"/>
                </a:solidFill>
                <a:latin typeface="Arial" pitchFamily="34" charset="0"/>
                <a:ea typeface="Arial" pitchFamily="34" charset="-122"/>
                <a:cs typeface="Arial" pitchFamily="34" charset="-120"/>
              </a:rPr>
              <a:t>Architecture Overview</a:t>
            </a:r>
            <a:endParaRPr lang="en-US" sz="2700" dirty="0"/>
          </a:p>
        </p:txBody>
      </p:sp>
      <p:sp>
        <p:nvSpPr>
          <p:cNvPr id="4" name="Text 2"/>
          <p:cNvSpPr/>
          <p:nvPr/>
        </p:nvSpPr>
        <p:spPr>
          <a:xfrm>
            <a:off x="3611761" y="990600"/>
            <a:ext cx="1920478" cy="533400"/>
          </a:xfrm>
          <a:prstGeom prst="roundRect">
            <a:avLst>
              <a:gd name="adj" fmla="val 10714"/>
            </a:avLst>
          </a:prstGeom>
          <a:solidFill>
            <a:srgbClr val="F3F4F6"/>
          </a:solidFill>
          <a:ln w="19050">
            <a:solidFill>
              <a:srgbClr val="D1D5DB"/>
            </a:solidFill>
          </a:ln>
        </p:spPr>
        <p:txBody>
          <a:bodyPr wrap="square" rtlCol="0" anchor="ctr"/>
          <a:lstStyle/>
          <a:p>
            <a:pPr indent="0" marL="0">
              <a:buNone/>
            </a:pPr>
            <a:endParaRPr lang="en-US" dirty="0"/>
          </a:p>
        </p:txBody>
      </p:sp>
      <p:sp>
        <p:nvSpPr>
          <p:cNvPr id="5" name="Text 3"/>
          <p:cNvSpPr/>
          <p:nvPr/>
        </p:nvSpPr>
        <p:spPr>
          <a:xfrm>
            <a:off x="3845159" y="1162050"/>
            <a:ext cx="1453682" cy="190500"/>
          </a:xfrm>
          <a:prstGeom prst="rect">
            <a:avLst/>
          </a:prstGeom>
          <a:noFill/>
          <a:ln/>
        </p:spPr>
        <p:txBody>
          <a:bodyPr wrap="square" lIns="0" tIns="0" rIns="0" bIns="0" rtlCol="0" anchor="t"/>
          <a:lstStyle/>
          <a:p>
            <a:pPr algn="ctr"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Business / Application</a:t>
            </a:r>
            <a:endParaRPr lang="en-US" sz="1050" dirty="0"/>
          </a:p>
        </p:txBody>
      </p:sp>
      <p:sp>
        <p:nvSpPr>
          <p:cNvPr id="6" name="Text 4"/>
          <p:cNvSpPr/>
          <p:nvPr/>
        </p:nvSpPr>
        <p:spPr>
          <a:xfrm>
            <a:off x="4562475" y="1676400"/>
            <a:ext cx="19050" cy="228600"/>
          </a:xfrm>
          <a:prstGeom prst="rect">
            <a:avLst/>
          </a:prstGeom>
          <a:solidFill>
            <a:srgbClr val="6B7280"/>
          </a:solidFill>
          <a:ln/>
        </p:spPr>
        <p:txBody>
          <a:bodyPr wrap="square" rtlCol="0" anchor="ctr"/>
          <a:lstStyle/>
          <a:p>
            <a:pPr indent="0" marL="0">
              <a:buNone/>
            </a:pPr>
            <a:endParaRPr lang="en-US" dirty="0"/>
          </a:p>
        </p:txBody>
      </p:sp>
      <p:sp>
        <p:nvSpPr>
          <p:cNvPr id="7" name="Text 5"/>
          <p:cNvSpPr/>
          <p:nvPr/>
        </p:nvSpPr>
        <p:spPr>
          <a:xfrm>
            <a:off x="3094583" y="2057400"/>
            <a:ext cx="2954834" cy="723900"/>
          </a:xfrm>
          <a:prstGeom prst="roundRect">
            <a:avLst>
              <a:gd name="adj" fmla="val 7895"/>
            </a:avLst>
          </a:prstGeom>
          <a:solidFill>
            <a:srgbClr val="1E3A8A"/>
          </a:solidFill>
          <a:ln w="19050">
            <a:solidFill>
              <a:srgbClr val="1E3A8A"/>
            </a:solidFill>
          </a:ln>
        </p:spPr>
        <p:txBody>
          <a:bodyPr wrap="square" rtlCol="0" anchor="ctr"/>
          <a:lstStyle/>
          <a:p>
            <a:pPr indent="0" marL="0">
              <a:buNone/>
            </a:pPr>
            <a:endParaRPr lang="en-US" dirty="0"/>
          </a:p>
        </p:txBody>
      </p:sp>
      <p:sp>
        <p:nvSpPr>
          <p:cNvPr id="8" name="Text 6"/>
          <p:cNvSpPr/>
          <p:nvPr/>
        </p:nvSpPr>
        <p:spPr>
          <a:xfrm>
            <a:off x="3395362" y="2228850"/>
            <a:ext cx="2353276" cy="190500"/>
          </a:xfrm>
          <a:prstGeom prst="rect">
            <a:avLst/>
          </a:prstGeom>
          <a:noFill/>
          <a:ln/>
        </p:spPr>
        <p:txBody>
          <a:bodyPr wrap="square" lIns="0" tIns="0" rIns="0" bIns="0" rtlCol="0" anchor="t"/>
          <a:lstStyle/>
          <a:p>
            <a:pPr algn="ctr"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TSP (Technology Selection Process)</a:t>
            </a:r>
            <a:endParaRPr lang="en-US" sz="1050" dirty="0"/>
          </a:p>
        </p:txBody>
      </p:sp>
      <p:sp>
        <p:nvSpPr>
          <p:cNvPr id="9" name="Text 7"/>
          <p:cNvSpPr/>
          <p:nvPr/>
        </p:nvSpPr>
        <p:spPr>
          <a:xfrm>
            <a:off x="3395362" y="2457450"/>
            <a:ext cx="2353276" cy="152400"/>
          </a:xfrm>
          <a:prstGeom prst="rect">
            <a:avLst/>
          </a:prstGeom>
          <a:noFill/>
          <a:ln/>
        </p:spPr>
        <p:txBody>
          <a:bodyPr wrap="square" lIns="0" tIns="0" rIns="0" bIns="0" rtlCol="0" anchor="t"/>
          <a:lstStyle/>
          <a:p>
            <a:pPr algn="ctr" indent="0" marL="0">
              <a:lnSpc>
                <a:spcPts val="1200"/>
              </a:lnSpc>
              <a:spcBef>
                <a:spcPts val="300"/>
              </a:spcBef>
              <a:spcAft>
                <a:spcPts val="300"/>
              </a:spcAft>
              <a:buNone/>
            </a:pPr>
            <a:r>
              <a:rPr lang="en-US" sz="900" dirty="0">
                <a:solidFill>
                  <a:srgbClr val="FFFFFF"/>
                </a:solidFill>
                <a:latin typeface="Arial" pitchFamily="34" charset="0"/>
                <a:ea typeface="Arial" pitchFamily="34" charset="-122"/>
                <a:cs typeface="Arial" pitchFamily="34" charset="-120"/>
              </a:rPr>
              <a:t>Models &gt; 1B parameters</a:t>
            </a:r>
            <a:endParaRPr lang="en-US" sz="900" dirty="0"/>
          </a:p>
        </p:txBody>
      </p:sp>
      <p:sp>
        <p:nvSpPr>
          <p:cNvPr id="10" name="Text 8"/>
          <p:cNvSpPr/>
          <p:nvPr/>
        </p:nvSpPr>
        <p:spPr>
          <a:xfrm>
            <a:off x="4562475" y="2933700"/>
            <a:ext cx="19050" cy="228600"/>
          </a:xfrm>
          <a:prstGeom prst="rect">
            <a:avLst/>
          </a:prstGeom>
          <a:solidFill>
            <a:srgbClr val="6B7280"/>
          </a:solidFill>
          <a:ln/>
        </p:spPr>
        <p:txBody>
          <a:bodyPr wrap="square" rtlCol="0" anchor="ctr"/>
          <a:lstStyle/>
          <a:p>
            <a:pPr indent="0" marL="0">
              <a:buNone/>
            </a:pPr>
            <a:endParaRPr lang="en-US" dirty="0"/>
          </a:p>
        </p:txBody>
      </p:sp>
      <p:sp>
        <p:nvSpPr>
          <p:cNvPr id="11" name="Text 9"/>
          <p:cNvSpPr/>
          <p:nvPr/>
        </p:nvSpPr>
        <p:spPr>
          <a:xfrm>
            <a:off x="762000" y="3314700"/>
            <a:ext cx="2095500" cy="762000"/>
          </a:xfrm>
          <a:prstGeom prst="roundRect">
            <a:avLst>
              <a:gd name="adj" fmla="val 7500"/>
            </a:avLst>
          </a:prstGeom>
          <a:solidFill>
            <a:srgbClr val="0D9488"/>
          </a:solidFill>
          <a:ln w="19050">
            <a:solidFill>
              <a:srgbClr val="0D9488"/>
            </a:solidFill>
          </a:ln>
        </p:spPr>
        <p:txBody>
          <a:bodyPr wrap="square" rtlCol="0" anchor="ctr"/>
          <a:lstStyle/>
          <a:p>
            <a:pPr indent="0" marL="0">
              <a:buNone/>
            </a:pPr>
            <a:endParaRPr lang="en-US" dirty="0"/>
          </a:p>
        </p:txBody>
      </p:sp>
      <p:sp>
        <p:nvSpPr>
          <p:cNvPr id="12" name="Text 10"/>
          <p:cNvSpPr/>
          <p:nvPr/>
        </p:nvSpPr>
        <p:spPr>
          <a:xfrm>
            <a:off x="954786" y="3505200"/>
            <a:ext cx="1709928" cy="190500"/>
          </a:xfrm>
          <a:prstGeom prst="rect">
            <a:avLst/>
          </a:prstGeom>
          <a:noFill/>
          <a:ln/>
        </p:spPr>
        <p:txBody>
          <a:bodyPr wrap="square" lIns="0" tIns="0" rIns="0" bIns="0" rtlCol="0" anchor="t"/>
          <a:lstStyle/>
          <a:p>
            <a:pPr algn="ctr"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AIDome Platform</a:t>
            </a:r>
            <a:endParaRPr lang="en-US" sz="1050" dirty="0"/>
          </a:p>
        </p:txBody>
      </p:sp>
      <p:sp>
        <p:nvSpPr>
          <p:cNvPr id="13" name="Text 11"/>
          <p:cNvSpPr/>
          <p:nvPr/>
        </p:nvSpPr>
        <p:spPr>
          <a:xfrm>
            <a:off x="954786" y="3733800"/>
            <a:ext cx="1709928" cy="152400"/>
          </a:xfrm>
          <a:prstGeom prst="rect">
            <a:avLst/>
          </a:prstGeom>
          <a:noFill/>
          <a:ln/>
        </p:spPr>
        <p:txBody>
          <a:bodyPr wrap="square" lIns="0" tIns="0" rIns="0" bIns="0" rtlCol="0" anchor="t"/>
          <a:lstStyle/>
          <a:p>
            <a:pPr algn="ctr" indent="0" marL="0">
              <a:lnSpc>
                <a:spcPts val="1200"/>
              </a:lnSpc>
              <a:spcBef>
                <a:spcPts val="300"/>
              </a:spcBef>
              <a:spcAft>
                <a:spcPts val="300"/>
              </a:spcAft>
              <a:buNone/>
            </a:pPr>
            <a:r>
              <a:rPr lang="en-US" sz="900" dirty="0">
                <a:solidFill>
                  <a:srgbClr val="FFFFFF"/>
                </a:solidFill>
                <a:latin typeface="Arial" pitchFamily="34" charset="0"/>
                <a:ea typeface="Arial" pitchFamily="34" charset="-122"/>
                <a:cs typeface="Arial" pitchFamily="34" charset="-120"/>
              </a:rPr>
              <a:t>App Onboarding</a:t>
            </a:r>
            <a:endParaRPr lang="en-US" sz="900" dirty="0"/>
          </a:p>
        </p:txBody>
      </p:sp>
      <p:sp>
        <p:nvSpPr>
          <p:cNvPr id="14" name="Text 12"/>
          <p:cNvSpPr/>
          <p:nvPr/>
        </p:nvSpPr>
        <p:spPr>
          <a:xfrm>
            <a:off x="3048000" y="3686175"/>
            <a:ext cx="285750" cy="19050"/>
          </a:xfrm>
          <a:prstGeom prst="rect">
            <a:avLst/>
          </a:prstGeom>
          <a:solidFill>
            <a:srgbClr val="6B7280"/>
          </a:solidFill>
          <a:ln/>
        </p:spPr>
        <p:txBody>
          <a:bodyPr wrap="square" rtlCol="0" anchor="ctr"/>
          <a:lstStyle/>
          <a:p>
            <a:pPr indent="0" marL="0">
              <a:buNone/>
            </a:pPr>
            <a:endParaRPr lang="en-US" dirty="0"/>
          </a:p>
        </p:txBody>
      </p:sp>
      <p:sp>
        <p:nvSpPr>
          <p:cNvPr id="15" name="Text 13"/>
          <p:cNvSpPr/>
          <p:nvPr/>
        </p:nvSpPr>
        <p:spPr>
          <a:xfrm>
            <a:off x="3524250" y="3314700"/>
            <a:ext cx="2095500" cy="762000"/>
          </a:xfrm>
          <a:prstGeom prst="roundRect">
            <a:avLst>
              <a:gd name="adj" fmla="val 7500"/>
            </a:avLst>
          </a:prstGeom>
          <a:solidFill>
            <a:srgbClr val="0D9488"/>
          </a:solidFill>
          <a:ln w="19050">
            <a:solidFill>
              <a:srgbClr val="0D9488"/>
            </a:solidFill>
          </a:ln>
        </p:spPr>
        <p:txBody>
          <a:bodyPr wrap="square" rtlCol="0" anchor="ctr"/>
          <a:lstStyle/>
          <a:p>
            <a:pPr indent="0" marL="0">
              <a:buNone/>
            </a:pPr>
            <a:endParaRPr lang="en-US" dirty="0"/>
          </a:p>
        </p:txBody>
      </p:sp>
      <p:sp>
        <p:nvSpPr>
          <p:cNvPr id="16" name="Text 14"/>
          <p:cNvSpPr/>
          <p:nvPr/>
        </p:nvSpPr>
        <p:spPr>
          <a:xfrm>
            <a:off x="3717036" y="3505200"/>
            <a:ext cx="1709928" cy="190500"/>
          </a:xfrm>
          <a:prstGeom prst="rect">
            <a:avLst/>
          </a:prstGeom>
          <a:noFill/>
          <a:ln/>
        </p:spPr>
        <p:txBody>
          <a:bodyPr wrap="square" lIns="0" tIns="0" rIns="0" bIns="0" rtlCol="0" anchor="t"/>
          <a:lstStyle/>
          <a:p>
            <a:pPr algn="ctr"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LLM Gateway (EKS)</a:t>
            </a:r>
            <a:endParaRPr lang="en-US" sz="1050" dirty="0"/>
          </a:p>
        </p:txBody>
      </p:sp>
      <p:sp>
        <p:nvSpPr>
          <p:cNvPr id="17" name="Text 15"/>
          <p:cNvSpPr/>
          <p:nvPr/>
        </p:nvSpPr>
        <p:spPr>
          <a:xfrm>
            <a:off x="3717036" y="3733800"/>
            <a:ext cx="1709928" cy="152400"/>
          </a:xfrm>
          <a:prstGeom prst="rect">
            <a:avLst/>
          </a:prstGeom>
          <a:noFill/>
          <a:ln/>
        </p:spPr>
        <p:txBody>
          <a:bodyPr wrap="square" lIns="0" tIns="0" rIns="0" bIns="0" rtlCol="0" anchor="t"/>
          <a:lstStyle/>
          <a:p>
            <a:pPr algn="ctr" indent="0" marL="0">
              <a:lnSpc>
                <a:spcPts val="1200"/>
              </a:lnSpc>
              <a:spcBef>
                <a:spcPts val="300"/>
              </a:spcBef>
              <a:spcAft>
                <a:spcPts val="300"/>
              </a:spcAft>
              <a:buNone/>
            </a:pPr>
            <a:r>
              <a:rPr lang="en-US" sz="900" dirty="0">
                <a:solidFill>
                  <a:srgbClr val="FFFFFF"/>
                </a:solidFill>
                <a:latin typeface="Arial" pitchFamily="34" charset="0"/>
                <a:ea typeface="Arial" pitchFamily="34" charset="-122"/>
                <a:cs typeface="Arial" pitchFamily="34" charset="-120"/>
              </a:rPr>
              <a:t>Portkey + Security</a:t>
            </a:r>
            <a:endParaRPr lang="en-US" sz="900" dirty="0"/>
          </a:p>
        </p:txBody>
      </p:sp>
      <p:sp>
        <p:nvSpPr>
          <p:cNvPr id="18" name="Text 16"/>
          <p:cNvSpPr/>
          <p:nvPr/>
        </p:nvSpPr>
        <p:spPr>
          <a:xfrm>
            <a:off x="5810250" y="3686175"/>
            <a:ext cx="285750" cy="19050"/>
          </a:xfrm>
          <a:prstGeom prst="rect">
            <a:avLst/>
          </a:prstGeom>
          <a:solidFill>
            <a:srgbClr val="6B7280"/>
          </a:solidFill>
          <a:ln/>
        </p:spPr>
        <p:txBody>
          <a:bodyPr wrap="square" rtlCol="0" anchor="ctr"/>
          <a:lstStyle/>
          <a:p>
            <a:pPr indent="0" marL="0">
              <a:buNone/>
            </a:pPr>
            <a:endParaRPr lang="en-US" dirty="0"/>
          </a:p>
        </p:txBody>
      </p:sp>
      <p:sp>
        <p:nvSpPr>
          <p:cNvPr id="19" name="Text 17"/>
          <p:cNvSpPr/>
          <p:nvPr/>
        </p:nvSpPr>
        <p:spPr>
          <a:xfrm>
            <a:off x="6286500" y="3314700"/>
            <a:ext cx="2095500" cy="762000"/>
          </a:xfrm>
          <a:prstGeom prst="roundRect">
            <a:avLst>
              <a:gd name="adj" fmla="val 7500"/>
            </a:avLst>
          </a:prstGeom>
          <a:noFill/>
          <a:ln w="19050">
            <a:solidFill>
              <a:srgbClr val="3B82F6"/>
            </a:solidFill>
          </a:ln>
        </p:spPr>
        <p:txBody>
          <a:bodyPr wrap="square" rtlCol="0" anchor="ctr"/>
          <a:lstStyle/>
          <a:p>
            <a:pPr indent="0" marL="0">
              <a:buNone/>
            </a:pPr>
            <a:endParaRPr lang="en-US" dirty="0"/>
          </a:p>
        </p:txBody>
      </p:sp>
      <p:sp>
        <p:nvSpPr>
          <p:cNvPr id="20" name="Text 18"/>
          <p:cNvSpPr/>
          <p:nvPr/>
        </p:nvSpPr>
        <p:spPr>
          <a:xfrm>
            <a:off x="6479286" y="3505200"/>
            <a:ext cx="1709928" cy="190500"/>
          </a:xfrm>
          <a:prstGeom prst="rect">
            <a:avLst/>
          </a:prstGeom>
          <a:noFill/>
          <a:ln/>
        </p:spPr>
        <p:txBody>
          <a:bodyPr wrap="square" lIns="0" tIns="0" rIns="0" bIns="0" rtlCol="0" anchor="t"/>
          <a:lstStyle/>
          <a:p>
            <a:pPr algn="ctr"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AWS Bedrock</a:t>
            </a:r>
            <a:endParaRPr lang="en-US" sz="1050" dirty="0"/>
          </a:p>
        </p:txBody>
      </p:sp>
      <p:sp>
        <p:nvSpPr>
          <p:cNvPr id="21" name="Text 19"/>
          <p:cNvSpPr/>
          <p:nvPr/>
        </p:nvSpPr>
        <p:spPr>
          <a:xfrm>
            <a:off x="6479286" y="3733800"/>
            <a:ext cx="1709928" cy="152400"/>
          </a:xfrm>
          <a:prstGeom prst="rect">
            <a:avLst/>
          </a:prstGeom>
          <a:noFill/>
          <a:ln/>
        </p:spPr>
        <p:txBody>
          <a:bodyPr wrap="square" lIns="0" tIns="0" rIns="0" bIns="0" rtlCol="0" anchor="t"/>
          <a:lstStyle/>
          <a:p>
            <a:pPr algn="ctr" indent="0" marL="0">
              <a:lnSpc>
                <a:spcPts val="1200"/>
              </a:lnSpc>
              <a:spcBef>
                <a:spcPts val="300"/>
              </a:spcBef>
              <a:spcAft>
                <a:spcPts val="300"/>
              </a:spcAft>
              <a:buNone/>
            </a:pPr>
            <a:r>
              <a:rPr lang="en-US" sz="900" dirty="0">
                <a:solidFill>
                  <a:srgbClr val="FFFFFF"/>
                </a:solidFill>
                <a:latin typeface="Arial" pitchFamily="34" charset="0"/>
                <a:ea typeface="Arial" pitchFamily="34" charset="-122"/>
                <a:cs typeface="Arial" pitchFamily="34" charset="-120"/>
              </a:rPr>
              <a:t>LLM Models + Guardrails</a:t>
            </a:r>
            <a:endParaRPr lang="en-US" sz="900" dirty="0"/>
          </a:p>
        </p:txBody>
      </p:sp>
      <p:sp>
        <p:nvSpPr>
          <p:cNvPr id="22" name="Text 20"/>
          <p:cNvSpPr/>
          <p:nvPr/>
        </p:nvSpPr>
        <p:spPr>
          <a:xfrm>
            <a:off x="4562475" y="4229100"/>
            <a:ext cx="19050" cy="190500"/>
          </a:xfrm>
          <a:prstGeom prst="rect">
            <a:avLst/>
          </a:prstGeom>
          <a:solidFill>
            <a:srgbClr val="6B7280"/>
          </a:solidFill>
          <a:ln/>
        </p:spPr>
        <p:txBody>
          <a:bodyPr wrap="square" rtlCol="0" anchor="ctr"/>
          <a:lstStyle/>
          <a:p>
            <a:pPr indent="0" marL="0">
              <a:buNone/>
            </a:pPr>
            <a:endParaRPr lang="en-US" dirty="0"/>
          </a:p>
        </p:txBody>
      </p:sp>
      <p:sp>
        <p:nvSpPr>
          <p:cNvPr id="23" name="Text 21"/>
          <p:cNvSpPr/>
          <p:nvPr/>
        </p:nvSpPr>
        <p:spPr>
          <a:xfrm>
            <a:off x="3412182" y="4572000"/>
            <a:ext cx="2319635" cy="495300"/>
          </a:xfrm>
          <a:prstGeom prst="roundRect">
            <a:avLst>
              <a:gd name="adj" fmla="val 11538"/>
            </a:avLst>
          </a:prstGeom>
          <a:solidFill>
            <a:srgbClr val="F59E0B"/>
          </a:solidFill>
          <a:ln w="19050">
            <a:solidFill>
              <a:srgbClr val="F59E0B"/>
            </a:solidFill>
          </a:ln>
        </p:spPr>
        <p:txBody>
          <a:bodyPr wrap="square" rtlCol="0" anchor="ctr"/>
          <a:lstStyle/>
          <a:p>
            <a:pPr indent="0" marL="0">
              <a:buNone/>
            </a:pPr>
            <a:endParaRPr lang="en-US" dirty="0"/>
          </a:p>
        </p:txBody>
      </p:sp>
      <p:sp>
        <p:nvSpPr>
          <p:cNvPr id="24" name="Text 22"/>
          <p:cNvSpPr/>
          <p:nvPr/>
        </p:nvSpPr>
        <p:spPr>
          <a:xfrm>
            <a:off x="3680451" y="4724400"/>
            <a:ext cx="1783098" cy="190500"/>
          </a:xfrm>
          <a:prstGeom prst="rect">
            <a:avLst/>
          </a:prstGeom>
          <a:noFill/>
          <a:ln/>
        </p:spPr>
        <p:txBody>
          <a:bodyPr wrap="square" lIns="0" tIns="0" rIns="0" bIns="0" rtlCol="0" anchor="t"/>
          <a:lstStyle/>
          <a:p>
            <a:pPr algn="ctr"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SIEM Monitoring &amp; Logging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228600"/>
            <a:ext cx="6062472" cy="381000"/>
          </a:xfrm>
          <a:prstGeom prst="rect">
            <a:avLst/>
          </a:prstGeom>
          <a:noFill/>
          <a:ln/>
        </p:spPr>
        <p:txBody>
          <a:bodyPr wrap="square" lIns="0" tIns="0" rIns="0" bIns="0" rtlCol="0" anchor="t"/>
          <a:lstStyle/>
          <a:p>
            <a:pPr algn="l" indent="0" marL="0">
              <a:lnSpc>
                <a:spcPts val="3000"/>
              </a:lnSpc>
              <a:spcAft>
                <a:spcPts val="600"/>
              </a:spcAft>
              <a:buNone/>
            </a:pPr>
            <a:r>
              <a:rPr lang="en-US" sz="2700" b="1" dirty="0">
                <a:solidFill>
                  <a:srgbClr val="1E3A8A"/>
                </a:solidFill>
                <a:latin typeface="Arial" pitchFamily="34" charset="0"/>
                <a:ea typeface="Arial" pitchFamily="34" charset="-122"/>
                <a:cs typeface="Arial" pitchFamily="34" charset="-120"/>
              </a:rPr>
              <a:t>Technology Selection Process (TSP)</a:t>
            </a:r>
            <a:endParaRPr lang="en-US" sz="2700" dirty="0"/>
          </a:p>
        </p:txBody>
      </p:sp>
      <p:sp>
        <p:nvSpPr>
          <p:cNvPr id="4" name="Text 2"/>
          <p:cNvSpPr/>
          <p:nvPr/>
        </p:nvSpPr>
        <p:spPr>
          <a:xfrm>
            <a:off x="381000" y="1171575"/>
            <a:ext cx="4114800" cy="1905000"/>
          </a:xfrm>
          <a:prstGeom prst="roundRect">
            <a:avLst>
              <a:gd name="adj" fmla="val 3000"/>
            </a:avLst>
          </a:prstGeom>
          <a:solidFill>
            <a:srgbClr val="F3F4F6"/>
          </a:solidFill>
          <a:ln/>
        </p:spPr>
        <p:txBody>
          <a:bodyPr wrap="square" rtlCol="0" anchor="ctr"/>
          <a:lstStyle/>
          <a:p>
            <a:pPr indent="0" marL="0">
              <a:buNone/>
            </a:pPr>
            <a:endParaRPr lang="en-US" dirty="0"/>
          </a:p>
        </p:txBody>
      </p:sp>
      <p:sp>
        <p:nvSpPr>
          <p:cNvPr id="5" name="Text 3"/>
          <p:cNvSpPr/>
          <p:nvPr/>
        </p:nvSpPr>
        <p:spPr>
          <a:xfrm>
            <a:off x="533400" y="1362075"/>
            <a:ext cx="3886200" cy="190500"/>
          </a:xfrm>
          <a:prstGeom prst="rect">
            <a:avLst/>
          </a:prstGeom>
          <a:noFill/>
          <a:ln/>
        </p:spPr>
        <p:txBody>
          <a:bodyPr wrap="square" lIns="0" tIns="0" rIns="0" bIns="0" rtlCol="0" anchor="t"/>
          <a:lstStyle/>
          <a:p>
            <a:pPr algn="l" indent="0" marL="0">
              <a:lnSpc>
                <a:spcPts val="1500"/>
              </a:lnSpc>
              <a:spcBef>
                <a:spcPts val="300"/>
              </a:spcBef>
              <a:spcAft>
                <a:spcPts val="600"/>
              </a:spcAft>
              <a:buNone/>
            </a:pPr>
            <a:r>
              <a:rPr lang="en-US" sz="1050" b="1" dirty="0">
                <a:solidFill>
                  <a:srgbClr val="1E3A8A"/>
                </a:solidFill>
                <a:latin typeface="Arial" pitchFamily="34" charset="0"/>
                <a:ea typeface="Arial" pitchFamily="34" charset="-122"/>
                <a:cs typeface="Arial" pitchFamily="34" charset="-120"/>
              </a:rPr>
              <a:t>Selection Criteria</a:t>
            </a:r>
            <a:endParaRPr lang="en-US" sz="1050" dirty="0"/>
          </a:p>
        </p:txBody>
      </p:sp>
      <p:sp>
        <p:nvSpPr>
          <p:cNvPr id="6" name="Text 4"/>
          <p:cNvSpPr/>
          <p:nvPr/>
        </p:nvSpPr>
        <p:spPr>
          <a:xfrm>
            <a:off x="533400" y="1666875"/>
            <a:ext cx="3886200"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Minimum Parameters:</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&gt; 1 billion</a:t>
            </a:r>
            <a:endParaRPr lang="en-US" sz="1050" dirty="0"/>
          </a:p>
        </p:txBody>
      </p:sp>
      <p:sp>
        <p:nvSpPr>
          <p:cNvPr id="7" name="Text 5"/>
          <p:cNvSpPr/>
          <p:nvPr/>
        </p:nvSpPr>
        <p:spPr>
          <a:xfrm>
            <a:off x="533400" y="2009775"/>
            <a:ext cx="3886200"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Security Assessment:</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Comprehensive review</a:t>
            </a:r>
            <a:endParaRPr lang="en-US" sz="1050" dirty="0"/>
          </a:p>
        </p:txBody>
      </p:sp>
      <p:sp>
        <p:nvSpPr>
          <p:cNvPr id="8" name="Text 6"/>
          <p:cNvSpPr/>
          <p:nvPr/>
        </p:nvSpPr>
        <p:spPr>
          <a:xfrm>
            <a:off x="533400" y="2352675"/>
            <a:ext cx="3886200"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Performance Validation:</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Llumino evaluation testing</a:t>
            </a:r>
            <a:endParaRPr lang="en-US" sz="1050" dirty="0"/>
          </a:p>
        </p:txBody>
      </p:sp>
      <p:sp>
        <p:nvSpPr>
          <p:cNvPr id="9" name="Text 7"/>
          <p:cNvSpPr/>
          <p:nvPr/>
        </p:nvSpPr>
        <p:spPr>
          <a:xfrm>
            <a:off x="533400" y="2695575"/>
            <a:ext cx="3886200"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Compliance Check:</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Enterprise policy alignment</a:t>
            </a:r>
            <a:endParaRPr lang="en-US" sz="1050" dirty="0"/>
          </a:p>
        </p:txBody>
      </p:sp>
      <p:sp>
        <p:nvSpPr>
          <p:cNvPr id="10" name="Text 8"/>
          <p:cNvSpPr/>
          <p:nvPr/>
        </p:nvSpPr>
        <p:spPr>
          <a:xfrm>
            <a:off x="381000" y="3209925"/>
            <a:ext cx="4114800" cy="1562100"/>
          </a:xfrm>
          <a:prstGeom prst="roundRect">
            <a:avLst>
              <a:gd name="adj" fmla="val 3659"/>
            </a:avLst>
          </a:prstGeom>
          <a:solidFill>
            <a:srgbClr val="F3F4F6"/>
          </a:solidFill>
          <a:ln/>
        </p:spPr>
        <p:txBody>
          <a:bodyPr wrap="square" rtlCol="0" anchor="ctr"/>
          <a:lstStyle/>
          <a:p>
            <a:pPr indent="0" marL="0">
              <a:buNone/>
            </a:pPr>
            <a:endParaRPr lang="en-US" dirty="0"/>
          </a:p>
        </p:txBody>
      </p:sp>
      <p:sp>
        <p:nvSpPr>
          <p:cNvPr id="11" name="Text 9"/>
          <p:cNvSpPr/>
          <p:nvPr/>
        </p:nvSpPr>
        <p:spPr>
          <a:xfrm>
            <a:off x="533400" y="3400425"/>
            <a:ext cx="3886200" cy="190500"/>
          </a:xfrm>
          <a:prstGeom prst="rect">
            <a:avLst/>
          </a:prstGeom>
          <a:noFill/>
          <a:ln/>
        </p:spPr>
        <p:txBody>
          <a:bodyPr wrap="square" lIns="0" tIns="0" rIns="0" bIns="0" rtlCol="0" anchor="t"/>
          <a:lstStyle/>
          <a:p>
            <a:pPr algn="l" indent="0" marL="0">
              <a:lnSpc>
                <a:spcPts val="1500"/>
              </a:lnSpc>
              <a:spcBef>
                <a:spcPts val="300"/>
              </a:spcBef>
              <a:spcAft>
                <a:spcPts val="600"/>
              </a:spcAft>
              <a:buNone/>
            </a:pPr>
            <a:r>
              <a:rPr lang="en-US" sz="1050" b="1" dirty="0">
                <a:solidFill>
                  <a:srgbClr val="1E3A8A"/>
                </a:solidFill>
                <a:latin typeface="Arial" pitchFamily="34" charset="0"/>
                <a:ea typeface="Arial" pitchFamily="34" charset="-122"/>
                <a:cs typeface="Arial" pitchFamily="34" charset="-120"/>
              </a:rPr>
              <a:t>Current Scope</a:t>
            </a:r>
            <a:endParaRPr lang="en-US" sz="1050" dirty="0"/>
          </a:p>
        </p:txBody>
      </p:sp>
      <p:sp>
        <p:nvSpPr>
          <p:cNvPr id="12" name="Text 10"/>
          <p:cNvSpPr/>
          <p:nvPr/>
        </p:nvSpPr>
        <p:spPr>
          <a:xfrm>
            <a:off x="533400" y="3705225"/>
            <a:ext cx="3886200"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Foundation models from AWS Bedrock</a:t>
            </a:r>
            <a:endParaRPr lang="en-US" sz="1050" dirty="0"/>
          </a:p>
        </p:txBody>
      </p:sp>
      <p:sp>
        <p:nvSpPr>
          <p:cNvPr id="13" name="Text 11"/>
          <p:cNvSpPr/>
          <p:nvPr/>
        </p:nvSpPr>
        <p:spPr>
          <a:xfrm>
            <a:off x="533400" y="4048125"/>
            <a:ext cx="3886200"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Embedding models for vector operations</a:t>
            </a:r>
            <a:endParaRPr lang="en-US" sz="1050" dirty="0"/>
          </a:p>
        </p:txBody>
      </p:sp>
      <p:sp>
        <p:nvSpPr>
          <p:cNvPr id="14" name="Text 12"/>
          <p:cNvSpPr/>
          <p:nvPr/>
        </p:nvSpPr>
        <p:spPr>
          <a:xfrm>
            <a:off x="533400" y="4391025"/>
            <a:ext cx="3886200"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No fine-tuning or custom model development</a:t>
            </a:r>
            <a:endParaRPr lang="en-US" sz="1050" dirty="0"/>
          </a:p>
        </p:txBody>
      </p:sp>
      <p:sp>
        <p:nvSpPr>
          <p:cNvPr id="15" name="Text 13"/>
          <p:cNvSpPr/>
          <p:nvPr/>
        </p:nvSpPr>
        <p:spPr>
          <a:xfrm>
            <a:off x="4648200" y="1314450"/>
            <a:ext cx="4114800" cy="2324100"/>
          </a:xfrm>
          <a:prstGeom prst="roundRect">
            <a:avLst>
              <a:gd name="adj" fmla="val 2459"/>
            </a:avLst>
          </a:prstGeom>
          <a:solidFill>
            <a:srgbClr val="1E3A8A"/>
          </a:solidFill>
          <a:ln/>
        </p:spPr>
        <p:txBody>
          <a:bodyPr wrap="square" rtlCol="0" anchor="ctr"/>
          <a:lstStyle/>
          <a:p>
            <a:pPr indent="0" marL="0">
              <a:buNone/>
            </a:pPr>
            <a:endParaRPr lang="en-US" dirty="0"/>
          </a:p>
        </p:txBody>
      </p:sp>
      <p:sp>
        <p:nvSpPr>
          <p:cNvPr id="16" name="Text 14"/>
          <p:cNvSpPr/>
          <p:nvPr/>
        </p:nvSpPr>
        <p:spPr>
          <a:xfrm>
            <a:off x="4800600" y="1504950"/>
            <a:ext cx="3886200" cy="190500"/>
          </a:xfrm>
          <a:prstGeom prst="rect">
            <a:avLst/>
          </a:prstGeom>
          <a:noFill/>
          <a:ln/>
        </p:spPr>
        <p:txBody>
          <a:bodyPr wrap="square" lIns="0" tIns="0" rIns="0" bIns="0" rtlCol="0" anchor="t"/>
          <a:lstStyle/>
          <a:p>
            <a:pPr algn="l" indent="0" marL="0">
              <a:lnSpc>
                <a:spcPts val="1500"/>
              </a:lnSpc>
              <a:spcBef>
                <a:spcPts val="300"/>
              </a:spcBef>
              <a:spcAft>
                <a:spcPts val="600"/>
              </a:spcAft>
              <a:buNone/>
            </a:pPr>
            <a:r>
              <a:rPr lang="en-US" sz="1050" b="1" dirty="0">
                <a:solidFill>
                  <a:srgbClr val="FFFFFF"/>
                </a:solidFill>
                <a:latin typeface="Arial" pitchFamily="34" charset="0"/>
                <a:ea typeface="Arial" pitchFamily="34" charset="-122"/>
                <a:cs typeface="Arial" pitchFamily="34" charset="-120"/>
              </a:rPr>
              <a:t>TSP Workflow</a:t>
            </a:r>
            <a:endParaRPr lang="en-US" sz="1050" dirty="0"/>
          </a:p>
        </p:txBody>
      </p:sp>
      <p:sp>
        <p:nvSpPr>
          <p:cNvPr id="17" name="Text 15"/>
          <p:cNvSpPr/>
          <p:nvPr/>
        </p:nvSpPr>
        <p:spPr>
          <a:xfrm>
            <a:off x="4800600" y="1790700"/>
            <a:ext cx="228600" cy="228600"/>
          </a:xfrm>
          <a:prstGeom prst="roundRect">
            <a:avLst>
              <a:gd name="adj" fmla="val 400000"/>
            </a:avLst>
          </a:prstGeom>
          <a:solidFill>
            <a:srgbClr val="FFFFFF"/>
          </a:solidFill>
          <a:ln/>
        </p:spPr>
        <p:txBody>
          <a:bodyPr wrap="square" rtlCol="0" anchor="ctr"/>
          <a:lstStyle/>
          <a:p>
            <a:pPr indent="0" marL="0">
              <a:buNone/>
            </a:pPr>
            <a:endParaRPr lang="en-US" dirty="0"/>
          </a:p>
        </p:txBody>
      </p:sp>
      <p:sp>
        <p:nvSpPr>
          <p:cNvPr id="18" name="Text 16"/>
          <p:cNvSpPr/>
          <p:nvPr/>
        </p:nvSpPr>
        <p:spPr>
          <a:xfrm>
            <a:off x="4861917" y="1771650"/>
            <a:ext cx="10808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E3A8A"/>
                </a:solidFill>
                <a:latin typeface="Arial" pitchFamily="34" charset="0"/>
                <a:ea typeface="Arial" pitchFamily="34" charset="-122"/>
                <a:cs typeface="Arial" pitchFamily="34" charset="-120"/>
              </a:rPr>
              <a:t>1</a:t>
            </a:r>
            <a:endParaRPr lang="en-US" sz="1500" dirty="0"/>
          </a:p>
        </p:txBody>
      </p:sp>
      <p:sp>
        <p:nvSpPr>
          <p:cNvPr id="19" name="Text 17"/>
          <p:cNvSpPr/>
          <p:nvPr/>
        </p:nvSpPr>
        <p:spPr>
          <a:xfrm>
            <a:off x="5105400" y="1809750"/>
            <a:ext cx="3575304"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Business submits model request</a:t>
            </a:r>
            <a:endParaRPr lang="en-US" sz="1050" dirty="0"/>
          </a:p>
        </p:txBody>
      </p:sp>
      <p:sp>
        <p:nvSpPr>
          <p:cNvPr id="20" name="Text 18"/>
          <p:cNvSpPr/>
          <p:nvPr/>
        </p:nvSpPr>
        <p:spPr>
          <a:xfrm>
            <a:off x="4800600" y="2152650"/>
            <a:ext cx="228600" cy="228600"/>
          </a:xfrm>
          <a:prstGeom prst="roundRect">
            <a:avLst>
              <a:gd name="adj" fmla="val 400000"/>
            </a:avLst>
          </a:prstGeom>
          <a:solidFill>
            <a:srgbClr val="FFFFFF"/>
          </a:solidFill>
          <a:ln/>
        </p:spPr>
        <p:txBody>
          <a:bodyPr wrap="square" rtlCol="0" anchor="ctr"/>
          <a:lstStyle/>
          <a:p>
            <a:pPr indent="0" marL="0">
              <a:buNone/>
            </a:pPr>
            <a:endParaRPr lang="en-US" dirty="0"/>
          </a:p>
        </p:txBody>
      </p:sp>
      <p:sp>
        <p:nvSpPr>
          <p:cNvPr id="21" name="Text 19"/>
          <p:cNvSpPr/>
          <p:nvPr/>
        </p:nvSpPr>
        <p:spPr>
          <a:xfrm>
            <a:off x="4861917" y="2133600"/>
            <a:ext cx="10808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E3A8A"/>
                </a:solidFill>
                <a:latin typeface="Arial" pitchFamily="34" charset="0"/>
                <a:ea typeface="Arial" pitchFamily="34" charset="-122"/>
                <a:cs typeface="Arial" pitchFamily="34" charset="-120"/>
              </a:rPr>
              <a:t>2</a:t>
            </a:r>
            <a:endParaRPr lang="en-US" sz="1500" dirty="0"/>
          </a:p>
        </p:txBody>
      </p:sp>
      <p:sp>
        <p:nvSpPr>
          <p:cNvPr id="22" name="Text 20"/>
          <p:cNvSpPr/>
          <p:nvPr/>
        </p:nvSpPr>
        <p:spPr>
          <a:xfrm>
            <a:off x="5105400" y="2171700"/>
            <a:ext cx="3575304"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Security &amp; architecture review</a:t>
            </a:r>
            <a:endParaRPr lang="en-US" sz="1050" dirty="0"/>
          </a:p>
        </p:txBody>
      </p:sp>
      <p:sp>
        <p:nvSpPr>
          <p:cNvPr id="23" name="Text 21"/>
          <p:cNvSpPr/>
          <p:nvPr/>
        </p:nvSpPr>
        <p:spPr>
          <a:xfrm>
            <a:off x="4800600" y="2514600"/>
            <a:ext cx="228600" cy="228600"/>
          </a:xfrm>
          <a:prstGeom prst="roundRect">
            <a:avLst>
              <a:gd name="adj" fmla="val 400000"/>
            </a:avLst>
          </a:prstGeom>
          <a:solidFill>
            <a:srgbClr val="FFFFFF"/>
          </a:solidFill>
          <a:ln/>
        </p:spPr>
        <p:txBody>
          <a:bodyPr wrap="square" rtlCol="0" anchor="ctr"/>
          <a:lstStyle/>
          <a:p>
            <a:pPr indent="0" marL="0">
              <a:buNone/>
            </a:pPr>
            <a:endParaRPr lang="en-US" dirty="0"/>
          </a:p>
        </p:txBody>
      </p:sp>
      <p:sp>
        <p:nvSpPr>
          <p:cNvPr id="24" name="Text 22"/>
          <p:cNvSpPr/>
          <p:nvPr/>
        </p:nvSpPr>
        <p:spPr>
          <a:xfrm>
            <a:off x="4861917" y="2495550"/>
            <a:ext cx="10808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E3A8A"/>
                </a:solidFill>
                <a:latin typeface="Arial" pitchFamily="34" charset="0"/>
                <a:ea typeface="Arial" pitchFamily="34" charset="-122"/>
                <a:cs typeface="Arial" pitchFamily="34" charset="-120"/>
              </a:rPr>
              <a:t>3</a:t>
            </a:r>
            <a:endParaRPr lang="en-US" sz="1500" dirty="0"/>
          </a:p>
        </p:txBody>
      </p:sp>
      <p:sp>
        <p:nvSpPr>
          <p:cNvPr id="25" name="Text 23"/>
          <p:cNvSpPr/>
          <p:nvPr/>
        </p:nvSpPr>
        <p:spPr>
          <a:xfrm>
            <a:off x="5105400" y="2533650"/>
            <a:ext cx="3575304"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Llumino evaluation &amp; testing</a:t>
            </a:r>
            <a:endParaRPr lang="en-US" sz="1050" dirty="0"/>
          </a:p>
        </p:txBody>
      </p:sp>
      <p:sp>
        <p:nvSpPr>
          <p:cNvPr id="26" name="Text 24"/>
          <p:cNvSpPr/>
          <p:nvPr/>
        </p:nvSpPr>
        <p:spPr>
          <a:xfrm>
            <a:off x="4800600" y="2876550"/>
            <a:ext cx="228600" cy="228600"/>
          </a:xfrm>
          <a:prstGeom prst="roundRect">
            <a:avLst>
              <a:gd name="adj" fmla="val 400000"/>
            </a:avLst>
          </a:prstGeom>
          <a:solidFill>
            <a:srgbClr val="FFFFFF"/>
          </a:solidFill>
          <a:ln/>
        </p:spPr>
        <p:txBody>
          <a:bodyPr wrap="square" rtlCol="0" anchor="ctr"/>
          <a:lstStyle/>
          <a:p>
            <a:pPr indent="0" marL="0">
              <a:buNone/>
            </a:pPr>
            <a:endParaRPr lang="en-US" dirty="0"/>
          </a:p>
        </p:txBody>
      </p:sp>
      <p:sp>
        <p:nvSpPr>
          <p:cNvPr id="27" name="Text 25"/>
          <p:cNvSpPr/>
          <p:nvPr/>
        </p:nvSpPr>
        <p:spPr>
          <a:xfrm>
            <a:off x="4861917" y="2857500"/>
            <a:ext cx="10808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E3A8A"/>
                </a:solidFill>
                <a:latin typeface="Arial" pitchFamily="34" charset="0"/>
                <a:ea typeface="Arial" pitchFamily="34" charset="-122"/>
                <a:cs typeface="Arial" pitchFamily="34" charset="-120"/>
              </a:rPr>
              <a:t>4</a:t>
            </a:r>
            <a:endParaRPr lang="en-US" sz="1500" dirty="0"/>
          </a:p>
        </p:txBody>
      </p:sp>
      <p:sp>
        <p:nvSpPr>
          <p:cNvPr id="28" name="Text 26"/>
          <p:cNvSpPr/>
          <p:nvPr/>
        </p:nvSpPr>
        <p:spPr>
          <a:xfrm>
            <a:off x="5105400" y="2895600"/>
            <a:ext cx="3575304"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Approval &amp; AWS Bedrock enablement</a:t>
            </a:r>
            <a:endParaRPr lang="en-US" sz="1050" dirty="0"/>
          </a:p>
        </p:txBody>
      </p:sp>
      <p:sp>
        <p:nvSpPr>
          <p:cNvPr id="29" name="Text 27"/>
          <p:cNvSpPr/>
          <p:nvPr/>
        </p:nvSpPr>
        <p:spPr>
          <a:xfrm>
            <a:off x="4800600" y="3238500"/>
            <a:ext cx="228600" cy="228600"/>
          </a:xfrm>
          <a:prstGeom prst="roundRect">
            <a:avLst>
              <a:gd name="adj" fmla="val 400000"/>
            </a:avLst>
          </a:prstGeom>
          <a:solidFill>
            <a:srgbClr val="FFFFFF"/>
          </a:solidFill>
          <a:ln/>
        </p:spPr>
        <p:txBody>
          <a:bodyPr wrap="square" rtlCol="0" anchor="ctr"/>
          <a:lstStyle/>
          <a:p>
            <a:pPr indent="0" marL="0">
              <a:buNone/>
            </a:pPr>
            <a:endParaRPr lang="en-US" dirty="0"/>
          </a:p>
        </p:txBody>
      </p:sp>
      <p:sp>
        <p:nvSpPr>
          <p:cNvPr id="30" name="Text 28"/>
          <p:cNvSpPr/>
          <p:nvPr/>
        </p:nvSpPr>
        <p:spPr>
          <a:xfrm>
            <a:off x="4861917" y="3219450"/>
            <a:ext cx="10808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E3A8A"/>
                </a:solidFill>
                <a:latin typeface="Arial" pitchFamily="34" charset="0"/>
                <a:ea typeface="Arial" pitchFamily="34" charset="-122"/>
                <a:cs typeface="Arial" pitchFamily="34" charset="-120"/>
              </a:rPr>
              <a:t>5</a:t>
            </a:r>
            <a:endParaRPr lang="en-US" sz="1500" dirty="0"/>
          </a:p>
        </p:txBody>
      </p:sp>
      <p:sp>
        <p:nvSpPr>
          <p:cNvPr id="31" name="Text 29"/>
          <p:cNvSpPr/>
          <p:nvPr/>
        </p:nvSpPr>
        <p:spPr>
          <a:xfrm>
            <a:off x="5105400" y="3257550"/>
            <a:ext cx="3575304"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AIDome platform registration</a:t>
            </a:r>
            <a:endParaRPr lang="en-US" sz="1050" dirty="0"/>
          </a:p>
        </p:txBody>
      </p:sp>
      <p:sp>
        <p:nvSpPr>
          <p:cNvPr id="32" name="Text 30"/>
          <p:cNvSpPr/>
          <p:nvPr/>
        </p:nvSpPr>
        <p:spPr>
          <a:xfrm>
            <a:off x="4648200" y="3771900"/>
            <a:ext cx="4114800" cy="857250"/>
          </a:xfrm>
          <a:prstGeom prst="roundRect">
            <a:avLst>
              <a:gd name="adj" fmla="val 6667"/>
            </a:avLst>
          </a:prstGeom>
          <a:solidFill>
            <a:srgbClr val="F59E0B"/>
          </a:solidFill>
          <a:ln/>
        </p:spPr>
        <p:txBody>
          <a:bodyPr wrap="square" rtlCol="0" anchor="ctr"/>
          <a:lstStyle/>
          <a:p>
            <a:pPr indent="0" marL="0">
              <a:buNone/>
            </a:pPr>
            <a:endParaRPr lang="en-US" dirty="0"/>
          </a:p>
        </p:txBody>
      </p:sp>
      <p:sp>
        <p:nvSpPr>
          <p:cNvPr id="33" name="Text 31"/>
          <p:cNvSpPr/>
          <p:nvPr/>
        </p:nvSpPr>
        <p:spPr>
          <a:xfrm>
            <a:off x="4781550" y="3943350"/>
            <a:ext cx="3925062" cy="152400"/>
          </a:xfrm>
          <a:prstGeom prst="rect">
            <a:avLst/>
          </a:prstGeom>
          <a:noFill/>
          <a:ln/>
        </p:spPr>
        <p:txBody>
          <a:bodyPr wrap="square" lIns="0" tIns="0" rIns="0" bIns="0" rtlCol="0" anchor="t"/>
          <a:lstStyle/>
          <a:p>
            <a:pPr algn="l" indent="0" marL="0">
              <a:lnSpc>
                <a:spcPts val="1200"/>
              </a:lnSpc>
              <a:spcBef>
                <a:spcPts val="300"/>
              </a:spcBef>
              <a:spcAft>
                <a:spcPts val="450"/>
              </a:spcAft>
              <a:buNone/>
            </a:pPr>
            <a:r>
              <a:rPr lang="en-US" sz="900" b="1" dirty="0">
                <a:solidFill>
                  <a:srgbClr val="1F2937"/>
                </a:solidFill>
                <a:latin typeface="Arial" pitchFamily="34" charset="0"/>
                <a:ea typeface="Arial" pitchFamily="34" charset="-122"/>
                <a:cs typeface="Arial" pitchFamily="34" charset="-120"/>
              </a:rPr>
              <a:t>Future Expansion</a:t>
            </a:r>
            <a:endParaRPr lang="en-US" sz="900" dirty="0"/>
          </a:p>
        </p:txBody>
      </p:sp>
      <p:sp>
        <p:nvSpPr>
          <p:cNvPr id="34" name="Text 32"/>
          <p:cNvSpPr/>
          <p:nvPr/>
        </p:nvSpPr>
        <p:spPr>
          <a:xfrm>
            <a:off x="4781550" y="4152900"/>
            <a:ext cx="3925062" cy="304800"/>
          </a:xfrm>
          <a:prstGeom prst="rect">
            <a:avLst/>
          </a:prstGeom>
          <a:noFill/>
          <a:ln/>
        </p:spPr>
        <p:txBody>
          <a:bodyPr wrap="square" lIns="0" tIns="0" rIns="0" bIns="0" rtlCol="0" anchor="t"/>
          <a:lstStyle/>
          <a:p>
            <a:pPr algn="l" indent="0" marL="0">
              <a:lnSpc>
                <a:spcPts val="1200"/>
              </a:lnSpc>
              <a:spcBef>
                <a:spcPts val="300"/>
              </a:spcBef>
              <a:spcAft>
                <a:spcPts val="300"/>
              </a:spcAft>
              <a:buNone/>
            </a:pPr>
            <a:r>
              <a:rPr lang="en-US" sz="900" dirty="0">
                <a:solidFill>
                  <a:srgbClr val="1F2937"/>
                </a:solidFill>
                <a:latin typeface="Arial" pitchFamily="34" charset="0"/>
                <a:ea typeface="Arial" pitchFamily="34" charset="-122"/>
                <a:cs typeface="Arial" pitchFamily="34" charset="-120"/>
              </a:rPr>
              <a:t>Open-weight and SLM models via TSP process, deployed through AWS Bedrock infrastructure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381000"/>
            <a:ext cx="4478845" cy="342900"/>
          </a:xfrm>
          <a:prstGeom prst="rect">
            <a:avLst/>
          </a:prstGeom>
          <a:noFill/>
          <a:ln/>
        </p:spPr>
        <p:txBody>
          <a:bodyPr wrap="square" lIns="0" tIns="0" rIns="0" bIns="0" rtlCol="0" anchor="t"/>
          <a:lstStyle/>
          <a:p>
            <a:pPr algn="l" indent="0" marL="0">
              <a:lnSpc>
                <a:spcPts val="2700"/>
              </a:lnSpc>
              <a:buNone/>
            </a:pPr>
            <a:r>
              <a:rPr lang="en-US" sz="2250" b="1" dirty="0">
                <a:solidFill>
                  <a:srgbClr val="1E3A8A"/>
                </a:solidFill>
                <a:latin typeface="Arial" pitchFamily="34" charset="0"/>
                <a:ea typeface="Arial" pitchFamily="34" charset="-122"/>
                <a:cs typeface="Arial" pitchFamily="34" charset="-120"/>
              </a:rPr>
              <a:t>Infrastructure &amp; Platform Stack</a:t>
            </a:r>
            <a:endParaRPr lang="en-US" sz="2250" dirty="0"/>
          </a:p>
        </p:txBody>
      </p:sp>
      <p:sp>
        <p:nvSpPr>
          <p:cNvPr id="4" name="Text 2"/>
          <p:cNvSpPr/>
          <p:nvPr/>
        </p:nvSpPr>
        <p:spPr>
          <a:xfrm>
            <a:off x="381000" y="1047750"/>
            <a:ext cx="4114800" cy="1028700"/>
          </a:xfrm>
          <a:prstGeom prst="roundRect">
            <a:avLst>
              <a:gd name="adj" fmla="val 5556"/>
            </a:avLst>
          </a:prstGeom>
          <a:solidFill>
            <a:srgbClr val="0D9488"/>
          </a:solidFill>
          <a:ln/>
        </p:spPr>
        <p:txBody>
          <a:bodyPr wrap="square" rtlCol="0" anchor="ctr"/>
          <a:lstStyle/>
          <a:p>
            <a:pPr indent="0" marL="0">
              <a:buNone/>
            </a:pPr>
            <a:endParaRPr lang="en-US" dirty="0"/>
          </a:p>
        </p:txBody>
      </p:sp>
      <p:sp>
        <p:nvSpPr>
          <p:cNvPr id="5" name="Text 3"/>
          <p:cNvSpPr/>
          <p:nvPr/>
        </p:nvSpPr>
        <p:spPr>
          <a:xfrm>
            <a:off x="514350" y="1219200"/>
            <a:ext cx="3925062"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AIDome Platform</a:t>
            </a:r>
            <a:endParaRPr lang="en-US" sz="1200" dirty="0"/>
          </a:p>
        </p:txBody>
      </p:sp>
      <p:sp>
        <p:nvSpPr>
          <p:cNvPr id="6" name="Text 4"/>
          <p:cNvSpPr/>
          <p:nvPr/>
        </p:nvSpPr>
        <p:spPr>
          <a:xfrm>
            <a:off x="514350" y="1524000"/>
            <a:ext cx="3925062"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Central onboarding portal for AI applications with model provisioning and prompt storage</a:t>
            </a:r>
            <a:endParaRPr lang="en-US" sz="1050" dirty="0"/>
          </a:p>
        </p:txBody>
      </p:sp>
      <p:sp>
        <p:nvSpPr>
          <p:cNvPr id="7" name="Text 5"/>
          <p:cNvSpPr/>
          <p:nvPr/>
        </p:nvSpPr>
        <p:spPr>
          <a:xfrm>
            <a:off x="381000" y="2209800"/>
            <a:ext cx="4114800" cy="1028700"/>
          </a:xfrm>
          <a:prstGeom prst="roundRect">
            <a:avLst>
              <a:gd name="adj" fmla="val 5556"/>
            </a:avLst>
          </a:prstGeom>
          <a:solidFill>
            <a:srgbClr val="1E3A8A"/>
          </a:solidFill>
          <a:ln/>
        </p:spPr>
        <p:txBody>
          <a:bodyPr wrap="square" rtlCol="0" anchor="ctr"/>
          <a:lstStyle/>
          <a:p>
            <a:pPr indent="0" marL="0">
              <a:buNone/>
            </a:pPr>
            <a:endParaRPr lang="en-US" dirty="0"/>
          </a:p>
        </p:txBody>
      </p:sp>
      <p:sp>
        <p:nvSpPr>
          <p:cNvPr id="8" name="Text 6"/>
          <p:cNvSpPr/>
          <p:nvPr/>
        </p:nvSpPr>
        <p:spPr>
          <a:xfrm>
            <a:off x="514350" y="2381250"/>
            <a:ext cx="3925062"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AWS Bedrock</a:t>
            </a:r>
            <a:endParaRPr lang="en-US" sz="1200" dirty="0"/>
          </a:p>
        </p:txBody>
      </p:sp>
      <p:sp>
        <p:nvSpPr>
          <p:cNvPr id="9" name="Text 7"/>
          <p:cNvSpPr/>
          <p:nvPr/>
        </p:nvSpPr>
        <p:spPr>
          <a:xfrm>
            <a:off x="514350" y="2686050"/>
            <a:ext cx="3925062"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Fully managed service hosting TSP-approved foundation models with built-in Guardrails</a:t>
            </a:r>
            <a:endParaRPr lang="en-US" sz="1050" dirty="0"/>
          </a:p>
        </p:txBody>
      </p:sp>
      <p:sp>
        <p:nvSpPr>
          <p:cNvPr id="10" name="Text 8"/>
          <p:cNvSpPr/>
          <p:nvPr/>
        </p:nvSpPr>
        <p:spPr>
          <a:xfrm>
            <a:off x="4648200" y="1028700"/>
            <a:ext cx="4114800" cy="1028700"/>
          </a:xfrm>
          <a:prstGeom prst="roundRect">
            <a:avLst>
              <a:gd name="adj" fmla="val 5556"/>
            </a:avLst>
          </a:prstGeom>
          <a:solidFill>
            <a:srgbClr val="0D9488"/>
          </a:solidFill>
          <a:ln/>
        </p:spPr>
        <p:txBody>
          <a:bodyPr wrap="square" rtlCol="0" anchor="ctr"/>
          <a:lstStyle/>
          <a:p>
            <a:pPr indent="0" marL="0">
              <a:buNone/>
            </a:pPr>
            <a:endParaRPr lang="en-US" dirty="0"/>
          </a:p>
        </p:txBody>
      </p:sp>
      <p:sp>
        <p:nvSpPr>
          <p:cNvPr id="11" name="Text 9"/>
          <p:cNvSpPr/>
          <p:nvPr/>
        </p:nvSpPr>
        <p:spPr>
          <a:xfrm>
            <a:off x="4781550" y="1200150"/>
            <a:ext cx="3925062"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LLM Gateway (Portkey)</a:t>
            </a:r>
            <a:endParaRPr lang="en-US" sz="1200" dirty="0"/>
          </a:p>
        </p:txBody>
      </p:sp>
      <p:sp>
        <p:nvSpPr>
          <p:cNvPr id="12" name="Text 10"/>
          <p:cNvSpPr/>
          <p:nvPr/>
        </p:nvSpPr>
        <p:spPr>
          <a:xfrm>
            <a:off x="4781550" y="1504950"/>
            <a:ext cx="3925062"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High-availability EKS cluster providing secure abstraction layer to AWS Bedrock</a:t>
            </a:r>
            <a:endParaRPr lang="en-US" sz="1050" dirty="0"/>
          </a:p>
        </p:txBody>
      </p:sp>
      <p:sp>
        <p:nvSpPr>
          <p:cNvPr id="13" name="Text 11"/>
          <p:cNvSpPr/>
          <p:nvPr/>
        </p:nvSpPr>
        <p:spPr>
          <a:xfrm>
            <a:off x="4648200" y="2190750"/>
            <a:ext cx="4114800" cy="1066800"/>
          </a:xfrm>
          <a:prstGeom prst="roundRect">
            <a:avLst>
              <a:gd name="adj" fmla="val 5357"/>
            </a:avLst>
          </a:prstGeom>
          <a:solidFill>
            <a:srgbClr val="F3F4F6"/>
          </a:solidFill>
          <a:ln w="19050">
            <a:solidFill>
              <a:srgbClr val="1E3A8A"/>
            </a:solidFill>
          </a:ln>
        </p:spPr>
        <p:txBody>
          <a:bodyPr wrap="square" rtlCol="0" anchor="ctr"/>
          <a:lstStyle/>
          <a:p>
            <a:pPr indent="0" marL="0">
              <a:buNone/>
            </a:pPr>
            <a:endParaRPr lang="en-US" dirty="0"/>
          </a:p>
        </p:txBody>
      </p:sp>
      <p:sp>
        <p:nvSpPr>
          <p:cNvPr id="14" name="Text 12"/>
          <p:cNvSpPr/>
          <p:nvPr/>
        </p:nvSpPr>
        <p:spPr>
          <a:xfrm>
            <a:off x="4800600" y="2381250"/>
            <a:ext cx="3886200"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1E3A8A"/>
                </a:solidFill>
                <a:latin typeface="Arial" pitchFamily="34" charset="0"/>
                <a:ea typeface="Arial" pitchFamily="34" charset="-122"/>
                <a:cs typeface="Arial" pitchFamily="34" charset="-120"/>
              </a:rPr>
              <a:t>Supporting Components</a:t>
            </a:r>
            <a:endParaRPr lang="en-US" sz="1200" dirty="0"/>
          </a:p>
        </p:txBody>
      </p:sp>
      <p:sp>
        <p:nvSpPr>
          <p:cNvPr id="15" name="Text 13"/>
          <p:cNvSpPr/>
          <p:nvPr/>
        </p:nvSpPr>
        <p:spPr>
          <a:xfrm>
            <a:off x="4800600" y="2686050"/>
            <a:ext cx="3886200"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Llumino evaluation platform, SIEM logging, cost tagging, and enterprise RBAC integration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228600"/>
            <a:ext cx="4925759" cy="381000"/>
          </a:xfrm>
          <a:prstGeom prst="rect">
            <a:avLst/>
          </a:prstGeom>
          <a:noFill/>
          <a:ln/>
        </p:spPr>
        <p:txBody>
          <a:bodyPr wrap="square" lIns="0" tIns="0" rIns="0" bIns="0" rtlCol="0" anchor="t"/>
          <a:lstStyle/>
          <a:p>
            <a:pPr algn="l" indent="0" marL="0">
              <a:lnSpc>
                <a:spcPts val="3000"/>
              </a:lnSpc>
              <a:spcAft>
                <a:spcPts val="600"/>
              </a:spcAft>
              <a:buNone/>
            </a:pPr>
            <a:r>
              <a:rPr lang="en-US" sz="2700" b="1" dirty="0">
                <a:solidFill>
                  <a:srgbClr val="1E3A8A"/>
                </a:solidFill>
                <a:latin typeface="Arial" pitchFamily="34" charset="0"/>
                <a:ea typeface="Arial" pitchFamily="34" charset="-122"/>
                <a:cs typeface="Arial" pitchFamily="34" charset="-120"/>
              </a:rPr>
              <a:t>AI Gateway Security Features</a:t>
            </a:r>
            <a:endParaRPr lang="en-US" sz="2700" dirty="0"/>
          </a:p>
        </p:txBody>
      </p:sp>
      <p:sp>
        <p:nvSpPr>
          <p:cNvPr id="4" name="Text 2"/>
          <p:cNvSpPr/>
          <p:nvPr/>
        </p:nvSpPr>
        <p:spPr>
          <a:xfrm>
            <a:off x="381000" y="1162050"/>
            <a:ext cx="4124325" cy="1104900"/>
          </a:xfrm>
          <a:prstGeom prst="roundRect">
            <a:avLst>
              <a:gd name="adj" fmla="val 5172"/>
            </a:avLst>
          </a:prstGeom>
          <a:solidFill>
            <a:srgbClr val="1E3A8A"/>
          </a:solidFill>
          <a:ln/>
        </p:spPr>
        <p:txBody>
          <a:bodyPr wrap="square" rtlCol="0" anchor="ctr"/>
          <a:lstStyle/>
          <a:p>
            <a:pPr indent="0" marL="0">
              <a:buNone/>
            </a:pPr>
            <a:endParaRPr lang="en-US" dirty="0"/>
          </a:p>
        </p:txBody>
      </p:sp>
      <p:sp>
        <p:nvSpPr>
          <p:cNvPr id="5" name="Text 3"/>
          <p:cNvSpPr/>
          <p:nvPr/>
        </p:nvSpPr>
        <p:spPr>
          <a:xfrm>
            <a:off x="533400" y="1352550"/>
            <a:ext cx="984605" cy="228600"/>
          </a:xfrm>
          <a:prstGeom prst="rect">
            <a:avLst/>
          </a:prstGeom>
          <a:noFill/>
          <a:ln/>
        </p:spPr>
        <p:txBody>
          <a:bodyPr wrap="square" lIns="0" tIns="0" rIns="0" bIns="0" rtlCol="0" anchor="t"/>
          <a:lstStyle/>
          <a:p>
            <a:pPr algn="l" indent="0" marL="0">
              <a:lnSpc>
                <a:spcPts val="1800"/>
              </a:lnSpc>
              <a:spcBef>
                <a:spcPts val="300"/>
              </a:spcBef>
              <a:spcAft>
                <a:spcPts val="300"/>
              </a:spcAft>
              <a:buNone/>
            </a:pPr>
            <a:r>
              <a:rPr lang="en-US" sz="1200" b="1" dirty="0">
                <a:solidFill>
                  <a:srgbClr val="FFFFFF"/>
                </a:solidFill>
                <a:latin typeface="Arial" pitchFamily="34" charset="0"/>
                <a:ea typeface="Arial" pitchFamily="34" charset="-122"/>
                <a:cs typeface="Arial" pitchFamily="34" charset="-120"/>
              </a:rPr>
              <a:t>Rate Limiting</a:t>
            </a:r>
            <a:endParaRPr lang="en-US" sz="1200" dirty="0"/>
          </a:p>
        </p:txBody>
      </p:sp>
      <p:sp>
        <p:nvSpPr>
          <p:cNvPr id="6" name="Text 4"/>
          <p:cNvSpPr/>
          <p:nvPr/>
        </p:nvSpPr>
        <p:spPr>
          <a:xfrm>
            <a:off x="533400" y="1695450"/>
            <a:ext cx="389591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Controls request frequency per application and user to prevent abuse and ensure fair resource allocation</a:t>
            </a:r>
            <a:endParaRPr lang="en-US" sz="1050" dirty="0"/>
          </a:p>
        </p:txBody>
      </p:sp>
      <p:sp>
        <p:nvSpPr>
          <p:cNvPr id="7" name="Text 5"/>
          <p:cNvSpPr/>
          <p:nvPr/>
        </p:nvSpPr>
        <p:spPr>
          <a:xfrm>
            <a:off x="4638675" y="1162050"/>
            <a:ext cx="4124325" cy="1104900"/>
          </a:xfrm>
          <a:prstGeom prst="roundRect">
            <a:avLst>
              <a:gd name="adj" fmla="val 5172"/>
            </a:avLst>
          </a:prstGeom>
          <a:solidFill>
            <a:srgbClr val="1E3A8A"/>
          </a:solidFill>
          <a:ln/>
        </p:spPr>
        <p:txBody>
          <a:bodyPr wrap="square" rtlCol="0" anchor="ctr"/>
          <a:lstStyle/>
          <a:p>
            <a:pPr indent="0" marL="0">
              <a:buNone/>
            </a:pPr>
            <a:endParaRPr lang="en-US" dirty="0"/>
          </a:p>
        </p:txBody>
      </p:sp>
      <p:sp>
        <p:nvSpPr>
          <p:cNvPr id="8" name="Text 6"/>
          <p:cNvSpPr/>
          <p:nvPr/>
        </p:nvSpPr>
        <p:spPr>
          <a:xfrm>
            <a:off x="4791075" y="1352550"/>
            <a:ext cx="725171" cy="228600"/>
          </a:xfrm>
          <a:prstGeom prst="rect">
            <a:avLst/>
          </a:prstGeom>
          <a:noFill/>
          <a:ln/>
        </p:spPr>
        <p:txBody>
          <a:bodyPr wrap="square" lIns="0" tIns="0" rIns="0" bIns="0" rtlCol="0" anchor="t"/>
          <a:lstStyle/>
          <a:p>
            <a:pPr algn="l" indent="0" marL="0">
              <a:lnSpc>
                <a:spcPts val="1800"/>
              </a:lnSpc>
              <a:spcBef>
                <a:spcPts val="300"/>
              </a:spcBef>
              <a:spcAft>
                <a:spcPts val="300"/>
              </a:spcAft>
              <a:buNone/>
            </a:pPr>
            <a:r>
              <a:rPr lang="en-US" sz="1200" b="1" dirty="0">
                <a:solidFill>
                  <a:srgbClr val="FFFFFF"/>
                </a:solidFill>
                <a:latin typeface="Arial" pitchFamily="34" charset="0"/>
                <a:ea typeface="Arial" pitchFamily="34" charset="-122"/>
                <a:cs typeface="Arial" pitchFamily="34" charset="-120"/>
              </a:rPr>
              <a:t>Throttling</a:t>
            </a:r>
            <a:endParaRPr lang="en-US" sz="1200" dirty="0"/>
          </a:p>
        </p:txBody>
      </p:sp>
      <p:sp>
        <p:nvSpPr>
          <p:cNvPr id="9" name="Text 7"/>
          <p:cNvSpPr/>
          <p:nvPr/>
        </p:nvSpPr>
        <p:spPr>
          <a:xfrm>
            <a:off x="4791075" y="1695450"/>
            <a:ext cx="389591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Dynamic request management to protect backend services and maintain system stability under load</a:t>
            </a:r>
            <a:endParaRPr lang="en-US" sz="1050" dirty="0"/>
          </a:p>
        </p:txBody>
      </p:sp>
      <p:sp>
        <p:nvSpPr>
          <p:cNvPr id="10" name="Text 8"/>
          <p:cNvSpPr/>
          <p:nvPr/>
        </p:nvSpPr>
        <p:spPr>
          <a:xfrm>
            <a:off x="381000" y="2400300"/>
            <a:ext cx="4124325" cy="1104900"/>
          </a:xfrm>
          <a:prstGeom prst="roundRect">
            <a:avLst>
              <a:gd name="adj" fmla="val 5172"/>
            </a:avLst>
          </a:prstGeom>
          <a:solidFill>
            <a:srgbClr val="0D9488"/>
          </a:solidFill>
          <a:ln/>
        </p:spPr>
        <p:txBody>
          <a:bodyPr wrap="square" rtlCol="0" anchor="ctr"/>
          <a:lstStyle/>
          <a:p>
            <a:pPr indent="0" marL="0">
              <a:buNone/>
            </a:pPr>
            <a:endParaRPr lang="en-US" dirty="0"/>
          </a:p>
        </p:txBody>
      </p:sp>
      <p:sp>
        <p:nvSpPr>
          <p:cNvPr id="11" name="Text 9"/>
          <p:cNvSpPr/>
          <p:nvPr/>
        </p:nvSpPr>
        <p:spPr>
          <a:xfrm>
            <a:off x="533400" y="2590800"/>
            <a:ext cx="1093905" cy="228600"/>
          </a:xfrm>
          <a:prstGeom prst="rect">
            <a:avLst/>
          </a:prstGeom>
          <a:noFill/>
          <a:ln/>
        </p:spPr>
        <p:txBody>
          <a:bodyPr wrap="square" lIns="0" tIns="0" rIns="0" bIns="0" rtlCol="0" anchor="t"/>
          <a:lstStyle/>
          <a:p>
            <a:pPr algn="l" indent="0" marL="0">
              <a:lnSpc>
                <a:spcPts val="1800"/>
              </a:lnSpc>
              <a:spcBef>
                <a:spcPts val="300"/>
              </a:spcBef>
              <a:spcAft>
                <a:spcPts val="300"/>
              </a:spcAft>
              <a:buNone/>
            </a:pPr>
            <a:r>
              <a:rPr lang="en-US" sz="1200" b="1" dirty="0">
                <a:solidFill>
                  <a:srgbClr val="FFFFFF"/>
                </a:solidFill>
                <a:latin typeface="Arial" pitchFamily="34" charset="0"/>
                <a:ea typeface="Arial" pitchFamily="34" charset="-122"/>
                <a:cs typeface="Arial" pitchFamily="34" charset="-120"/>
              </a:rPr>
              <a:t>Token Limiting</a:t>
            </a:r>
            <a:endParaRPr lang="en-US" sz="1200" dirty="0"/>
          </a:p>
        </p:txBody>
      </p:sp>
      <p:sp>
        <p:nvSpPr>
          <p:cNvPr id="12" name="Text 10"/>
          <p:cNvSpPr/>
          <p:nvPr/>
        </p:nvSpPr>
        <p:spPr>
          <a:xfrm>
            <a:off x="533400" y="2933700"/>
            <a:ext cx="389591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Enforces maximum token consumption per request to control costs and prevent runaway generation</a:t>
            </a:r>
            <a:endParaRPr lang="en-US" sz="1050" dirty="0"/>
          </a:p>
        </p:txBody>
      </p:sp>
      <p:sp>
        <p:nvSpPr>
          <p:cNvPr id="13" name="Text 11"/>
          <p:cNvSpPr/>
          <p:nvPr/>
        </p:nvSpPr>
        <p:spPr>
          <a:xfrm>
            <a:off x="4638675" y="2400300"/>
            <a:ext cx="4124325" cy="1104900"/>
          </a:xfrm>
          <a:prstGeom prst="roundRect">
            <a:avLst>
              <a:gd name="adj" fmla="val 5172"/>
            </a:avLst>
          </a:prstGeom>
          <a:solidFill>
            <a:srgbClr val="0D9488"/>
          </a:solidFill>
          <a:ln/>
        </p:spPr>
        <p:txBody>
          <a:bodyPr wrap="square" rtlCol="0" anchor="ctr"/>
          <a:lstStyle/>
          <a:p>
            <a:pPr indent="0" marL="0">
              <a:buNone/>
            </a:pPr>
            <a:endParaRPr lang="en-US" dirty="0"/>
          </a:p>
        </p:txBody>
      </p:sp>
      <p:sp>
        <p:nvSpPr>
          <p:cNvPr id="14" name="Text 12"/>
          <p:cNvSpPr/>
          <p:nvPr/>
        </p:nvSpPr>
        <p:spPr>
          <a:xfrm>
            <a:off x="4791075" y="2590800"/>
            <a:ext cx="1295349" cy="228600"/>
          </a:xfrm>
          <a:prstGeom prst="rect">
            <a:avLst/>
          </a:prstGeom>
          <a:noFill/>
          <a:ln/>
        </p:spPr>
        <p:txBody>
          <a:bodyPr wrap="square" lIns="0" tIns="0" rIns="0" bIns="0" rtlCol="0" anchor="t"/>
          <a:lstStyle/>
          <a:p>
            <a:pPr algn="l" indent="0" marL="0">
              <a:lnSpc>
                <a:spcPts val="1800"/>
              </a:lnSpc>
              <a:spcBef>
                <a:spcPts val="300"/>
              </a:spcBef>
              <a:spcAft>
                <a:spcPts val="300"/>
              </a:spcAft>
              <a:buNone/>
            </a:pPr>
            <a:r>
              <a:rPr lang="en-US" sz="1200" b="1" dirty="0">
                <a:solidFill>
                  <a:srgbClr val="FFFFFF"/>
                </a:solidFill>
                <a:latin typeface="Arial" pitchFamily="34" charset="0"/>
                <a:ea typeface="Arial" pitchFamily="34" charset="-122"/>
                <a:cs typeface="Arial" pitchFamily="34" charset="-120"/>
              </a:rPr>
              <a:t>RBAC Integration</a:t>
            </a:r>
            <a:endParaRPr lang="en-US" sz="1200" dirty="0"/>
          </a:p>
        </p:txBody>
      </p:sp>
      <p:sp>
        <p:nvSpPr>
          <p:cNvPr id="15" name="Text 13"/>
          <p:cNvSpPr/>
          <p:nvPr/>
        </p:nvSpPr>
        <p:spPr>
          <a:xfrm>
            <a:off x="4791075" y="2933700"/>
            <a:ext cx="389591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Role-based access control determines which models each application and user can access</a:t>
            </a:r>
            <a:endParaRPr lang="en-US" sz="1050" dirty="0"/>
          </a:p>
        </p:txBody>
      </p:sp>
      <p:sp>
        <p:nvSpPr>
          <p:cNvPr id="16" name="Text 14"/>
          <p:cNvSpPr/>
          <p:nvPr/>
        </p:nvSpPr>
        <p:spPr>
          <a:xfrm>
            <a:off x="381000" y="3638550"/>
            <a:ext cx="4124325" cy="1143000"/>
          </a:xfrm>
          <a:prstGeom prst="roundRect">
            <a:avLst>
              <a:gd name="adj" fmla="val 5000"/>
            </a:avLst>
          </a:prstGeom>
          <a:solidFill>
            <a:srgbClr val="F3F4F6"/>
          </a:solidFill>
          <a:ln w="19050">
            <a:solidFill>
              <a:srgbClr val="0D9488"/>
            </a:solidFill>
          </a:ln>
        </p:spPr>
        <p:txBody>
          <a:bodyPr wrap="square" rtlCol="0" anchor="ctr"/>
          <a:lstStyle/>
          <a:p>
            <a:pPr indent="0" marL="0">
              <a:buNone/>
            </a:pPr>
            <a:endParaRPr lang="en-US" dirty="0"/>
          </a:p>
        </p:txBody>
      </p:sp>
      <p:sp>
        <p:nvSpPr>
          <p:cNvPr id="17" name="Text 15"/>
          <p:cNvSpPr/>
          <p:nvPr/>
        </p:nvSpPr>
        <p:spPr>
          <a:xfrm>
            <a:off x="552450" y="3848100"/>
            <a:ext cx="1589547" cy="228600"/>
          </a:xfrm>
          <a:prstGeom prst="rect">
            <a:avLst/>
          </a:prstGeom>
          <a:noFill/>
          <a:ln/>
        </p:spPr>
        <p:txBody>
          <a:bodyPr wrap="square" lIns="0" tIns="0" rIns="0" bIns="0" rtlCol="0" anchor="t"/>
          <a:lstStyle/>
          <a:p>
            <a:pPr algn="l" indent="0" marL="0">
              <a:lnSpc>
                <a:spcPts val="1800"/>
              </a:lnSpc>
              <a:spcBef>
                <a:spcPts val="300"/>
              </a:spcBef>
              <a:spcAft>
                <a:spcPts val="300"/>
              </a:spcAft>
              <a:buNone/>
            </a:pPr>
            <a:r>
              <a:rPr lang="en-US" sz="1200" b="1" dirty="0">
                <a:solidFill>
                  <a:srgbClr val="1E3A8A"/>
                </a:solidFill>
                <a:latin typeface="Arial" pitchFamily="34" charset="0"/>
                <a:ea typeface="Arial" pitchFamily="34" charset="-122"/>
                <a:cs typeface="Arial" pitchFamily="34" charset="-120"/>
              </a:rPr>
              <a:t>Session Management</a:t>
            </a:r>
            <a:endParaRPr lang="en-US" sz="1200" dirty="0"/>
          </a:p>
        </p:txBody>
      </p:sp>
      <p:sp>
        <p:nvSpPr>
          <p:cNvPr id="18" name="Text 16"/>
          <p:cNvSpPr/>
          <p:nvPr/>
        </p:nvSpPr>
        <p:spPr>
          <a:xfrm>
            <a:off x="552450" y="4191000"/>
            <a:ext cx="3857054"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Tracks user sessions with timeout policies and concurrent session controls</a:t>
            </a:r>
            <a:endParaRPr lang="en-US" sz="1050" dirty="0"/>
          </a:p>
        </p:txBody>
      </p:sp>
      <p:sp>
        <p:nvSpPr>
          <p:cNvPr id="19" name="Text 17"/>
          <p:cNvSpPr/>
          <p:nvPr/>
        </p:nvSpPr>
        <p:spPr>
          <a:xfrm>
            <a:off x="4638675" y="3638550"/>
            <a:ext cx="4124325" cy="1143000"/>
          </a:xfrm>
          <a:prstGeom prst="roundRect">
            <a:avLst>
              <a:gd name="adj" fmla="val 5000"/>
            </a:avLst>
          </a:prstGeom>
          <a:solidFill>
            <a:srgbClr val="F3F4F6"/>
          </a:solidFill>
          <a:ln w="19050">
            <a:solidFill>
              <a:srgbClr val="F59E0B"/>
            </a:solidFill>
          </a:ln>
        </p:spPr>
        <p:txBody>
          <a:bodyPr wrap="square" rtlCol="0" anchor="ctr"/>
          <a:lstStyle/>
          <a:p>
            <a:pPr indent="0" marL="0">
              <a:buNone/>
            </a:pPr>
            <a:endParaRPr lang="en-US" dirty="0"/>
          </a:p>
        </p:txBody>
      </p:sp>
      <p:sp>
        <p:nvSpPr>
          <p:cNvPr id="20" name="Text 18"/>
          <p:cNvSpPr/>
          <p:nvPr/>
        </p:nvSpPr>
        <p:spPr>
          <a:xfrm>
            <a:off x="4810125" y="3848100"/>
            <a:ext cx="1217625" cy="228600"/>
          </a:xfrm>
          <a:prstGeom prst="rect">
            <a:avLst/>
          </a:prstGeom>
          <a:noFill/>
          <a:ln/>
        </p:spPr>
        <p:txBody>
          <a:bodyPr wrap="square" lIns="0" tIns="0" rIns="0" bIns="0" rtlCol="0" anchor="t"/>
          <a:lstStyle/>
          <a:p>
            <a:pPr algn="l" indent="0" marL="0">
              <a:lnSpc>
                <a:spcPts val="1800"/>
              </a:lnSpc>
              <a:spcBef>
                <a:spcPts val="300"/>
              </a:spcBef>
              <a:spcAft>
                <a:spcPts val="300"/>
              </a:spcAft>
              <a:buNone/>
            </a:pPr>
            <a:r>
              <a:rPr lang="en-US" sz="1200" b="1" dirty="0">
                <a:solidFill>
                  <a:srgbClr val="1E3A8A"/>
                </a:solidFill>
                <a:latin typeface="Arial" pitchFamily="34" charset="0"/>
                <a:ea typeface="Arial" pitchFamily="34" charset="-122"/>
                <a:cs typeface="Arial" pitchFamily="34" charset="-120"/>
              </a:rPr>
              <a:t>Budget Controls</a:t>
            </a:r>
            <a:endParaRPr lang="en-US" sz="1200" dirty="0"/>
          </a:p>
        </p:txBody>
      </p:sp>
      <p:sp>
        <p:nvSpPr>
          <p:cNvPr id="21" name="Text 19"/>
          <p:cNvSpPr/>
          <p:nvPr/>
        </p:nvSpPr>
        <p:spPr>
          <a:xfrm>
            <a:off x="4810125" y="4191000"/>
            <a:ext cx="3857054"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Capability available, planned implementation for research environments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228600"/>
            <a:ext cx="6849428" cy="381000"/>
          </a:xfrm>
          <a:prstGeom prst="rect">
            <a:avLst/>
          </a:prstGeom>
          <a:noFill/>
          <a:ln/>
        </p:spPr>
        <p:txBody>
          <a:bodyPr wrap="square" lIns="0" tIns="0" rIns="0" bIns="0" rtlCol="0" anchor="t"/>
          <a:lstStyle/>
          <a:p>
            <a:pPr algn="l" indent="0" marL="0">
              <a:lnSpc>
                <a:spcPts val="3000"/>
              </a:lnSpc>
              <a:spcAft>
                <a:spcPts val="600"/>
              </a:spcAft>
              <a:buNone/>
            </a:pPr>
            <a:r>
              <a:rPr lang="en-US" sz="2700" b="1" dirty="0">
                <a:solidFill>
                  <a:srgbClr val="1E3A8A"/>
                </a:solidFill>
                <a:latin typeface="Arial" pitchFamily="34" charset="0"/>
                <a:ea typeface="Arial" pitchFamily="34" charset="-122"/>
                <a:cs typeface="Arial" pitchFamily="34" charset="-120"/>
              </a:rPr>
              <a:t>Bedrock Guardrails &amp; Content Protection</a:t>
            </a:r>
            <a:endParaRPr lang="en-US" sz="2700" dirty="0"/>
          </a:p>
        </p:txBody>
      </p:sp>
      <p:sp>
        <p:nvSpPr>
          <p:cNvPr id="4" name="Text 2"/>
          <p:cNvSpPr/>
          <p:nvPr/>
        </p:nvSpPr>
        <p:spPr>
          <a:xfrm>
            <a:off x="381000" y="1428750"/>
            <a:ext cx="4105275" cy="2076450"/>
          </a:xfrm>
          <a:prstGeom prst="roundRect">
            <a:avLst>
              <a:gd name="adj" fmla="val 2752"/>
            </a:avLst>
          </a:prstGeom>
          <a:solidFill>
            <a:srgbClr val="1E3A8A"/>
          </a:solidFill>
          <a:ln/>
        </p:spPr>
        <p:txBody>
          <a:bodyPr wrap="square" rtlCol="0" anchor="ctr"/>
          <a:lstStyle/>
          <a:p>
            <a:pPr indent="0" marL="0">
              <a:buNone/>
            </a:pPr>
            <a:endParaRPr lang="en-US" dirty="0"/>
          </a:p>
        </p:txBody>
      </p:sp>
      <p:sp>
        <p:nvSpPr>
          <p:cNvPr id="5" name="Text 3"/>
          <p:cNvSpPr/>
          <p:nvPr/>
        </p:nvSpPr>
        <p:spPr>
          <a:xfrm>
            <a:off x="552450" y="1638300"/>
            <a:ext cx="3837622" cy="228600"/>
          </a:xfrm>
          <a:prstGeom prst="rect">
            <a:avLst/>
          </a:prstGeom>
          <a:noFill/>
          <a:ln/>
        </p:spPr>
        <p:txBody>
          <a:bodyPr wrap="square" lIns="0" tIns="0" rIns="0" bIns="0" rtlCol="0" anchor="t"/>
          <a:lstStyle/>
          <a:p>
            <a:pPr algn="l" indent="0" marL="0">
              <a:lnSpc>
                <a:spcPts val="1800"/>
              </a:lnSpc>
              <a:spcBef>
                <a:spcPts val="300"/>
              </a:spcBef>
              <a:spcAft>
                <a:spcPts val="900"/>
              </a:spcAft>
              <a:buNone/>
            </a:pPr>
            <a:r>
              <a:rPr lang="en-US" sz="1200" b="1" dirty="0">
                <a:solidFill>
                  <a:srgbClr val="FFFFFF"/>
                </a:solidFill>
                <a:latin typeface="Arial" pitchFamily="34" charset="0"/>
                <a:ea typeface="Arial" pitchFamily="34" charset="-122"/>
                <a:cs typeface="Arial" pitchFamily="34" charset="-120"/>
              </a:rPr>
              <a:t>Guardrail Capabilities</a:t>
            </a:r>
            <a:endParaRPr lang="en-US" sz="1200" dirty="0"/>
          </a:p>
        </p:txBody>
      </p:sp>
      <p:sp>
        <p:nvSpPr>
          <p:cNvPr id="6" name="Text 4"/>
          <p:cNvSpPr/>
          <p:nvPr/>
        </p:nvSpPr>
        <p:spPr>
          <a:xfrm>
            <a:off x="552450" y="2019300"/>
            <a:ext cx="3837622"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PII Detection</a:t>
            </a:r>
            <a:endParaRPr lang="en-US" sz="1050" dirty="0"/>
          </a:p>
        </p:txBody>
      </p:sp>
      <p:sp>
        <p:nvSpPr>
          <p:cNvPr id="7" name="Text 5"/>
          <p:cNvSpPr/>
          <p:nvPr/>
        </p:nvSpPr>
        <p:spPr>
          <a:xfrm>
            <a:off x="552450" y="2381250"/>
            <a:ext cx="3837622"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Prompt Injection Detection</a:t>
            </a:r>
            <a:endParaRPr lang="en-US" sz="1050" dirty="0"/>
          </a:p>
        </p:txBody>
      </p:sp>
      <p:sp>
        <p:nvSpPr>
          <p:cNvPr id="8" name="Text 6"/>
          <p:cNvSpPr/>
          <p:nvPr/>
        </p:nvSpPr>
        <p:spPr>
          <a:xfrm>
            <a:off x="552450" y="2743200"/>
            <a:ext cx="3837622"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Content Filtering</a:t>
            </a:r>
            <a:endParaRPr lang="en-US" sz="1050" dirty="0"/>
          </a:p>
        </p:txBody>
      </p:sp>
      <p:sp>
        <p:nvSpPr>
          <p:cNvPr id="9" name="Text 7"/>
          <p:cNvSpPr/>
          <p:nvPr/>
        </p:nvSpPr>
        <p:spPr>
          <a:xfrm>
            <a:off x="552450" y="3105150"/>
            <a:ext cx="3837622"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Additional Security Policies</a:t>
            </a:r>
            <a:endParaRPr lang="en-US" sz="1050" dirty="0"/>
          </a:p>
        </p:txBody>
      </p:sp>
      <p:sp>
        <p:nvSpPr>
          <p:cNvPr id="10" name="Text 8"/>
          <p:cNvSpPr/>
          <p:nvPr/>
        </p:nvSpPr>
        <p:spPr>
          <a:xfrm>
            <a:off x="381000" y="3619500"/>
            <a:ext cx="4105275" cy="895350"/>
          </a:xfrm>
          <a:prstGeom prst="roundRect">
            <a:avLst>
              <a:gd name="adj" fmla="val 6383"/>
            </a:avLst>
          </a:prstGeom>
          <a:solidFill>
            <a:srgbClr val="F59E0B"/>
          </a:solidFill>
          <a:ln/>
        </p:spPr>
        <p:txBody>
          <a:bodyPr wrap="square" rtlCol="0" anchor="ctr"/>
          <a:lstStyle/>
          <a:p>
            <a:pPr indent="0" marL="0">
              <a:buNone/>
            </a:pPr>
            <a:endParaRPr lang="en-US" dirty="0"/>
          </a:p>
        </p:txBody>
      </p:sp>
      <p:sp>
        <p:nvSpPr>
          <p:cNvPr id="11" name="Text 9"/>
          <p:cNvSpPr/>
          <p:nvPr/>
        </p:nvSpPr>
        <p:spPr>
          <a:xfrm>
            <a:off x="514350" y="3790950"/>
            <a:ext cx="3915347" cy="190500"/>
          </a:xfrm>
          <a:prstGeom prst="rect">
            <a:avLst/>
          </a:prstGeom>
          <a:noFill/>
          <a:ln/>
        </p:spPr>
        <p:txBody>
          <a:bodyPr wrap="square" lIns="0" tIns="0" rIns="0" bIns="0" rtlCol="0" anchor="t"/>
          <a:lstStyle/>
          <a:p>
            <a:pPr algn="l" indent="0" marL="0">
              <a:lnSpc>
                <a:spcPts val="1500"/>
              </a:lnSpc>
              <a:spcBef>
                <a:spcPts val="300"/>
              </a:spcBef>
              <a:spcAft>
                <a:spcPts val="450"/>
              </a:spcAft>
              <a:buNone/>
            </a:pPr>
            <a:r>
              <a:rPr lang="en-US" sz="1050" b="1" dirty="0">
                <a:solidFill>
                  <a:srgbClr val="1F2937"/>
                </a:solidFill>
                <a:latin typeface="Arial" pitchFamily="34" charset="0"/>
                <a:ea typeface="Arial" pitchFamily="34" charset="-122"/>
                <a:cs typeface="Arial" pitchFamily="34" charset="-120"/>
              </a:rPr>
              <a:t>Policy Enforcement Model</a:t>
            </a:r>
            <a:endParaRPr lang="en-US" sz="1050" dirty="0"/>
          </a:p>
        </p:txBody>
      </p:sp>
      <p:sp>
        <p:nvSpPr>
          <p:cNvPr id="12" name="Text 10"/>
          <p:cNvSpPr/>
          <p:nvPr/>
        </p:nvSpPr>
        <p:spPr>
          <a:xfrm>
            <a:off x="514350" y="4038600"/>
            <a:ext cx="3915347" cy="304800"/>
          </a:xfrm>
          <a:prstGeom prst="rect">
            <a:avLst/>
          </a:prstGeom>
          <a:noFill/>
          <a:ln/>
        </p:spPr>
        <p:txBody>
          <a:bodyPr wrap="square" lIns="0" tIns="0" rIns="0" bIns="0" rtlCol="0" anchor="t"/>
          <a:lstStyle/>
          <a:p>
            <a:pPr algn="l" indent="0" marL="0">
              <a:lnSpc>
                <a:spcPts val="1200"/>
              </a:lnSpc>
              <a:spcBef>
                <a:spcPts val="300"/>
              </a:spcBef>
              <a:spcAft>
                <a:spcPts val="300"/>
              </a:spcAft>
              <a:buNone/>
            </a:pPr>
            <a:r>
              <a:rPr lang="en-US" sz="900" dirty="0">
                <a:solidFill>
                  <a:srgbClr val="1F2937"/>
                </a:solidFill>
                <a:latin typeface="Arial" pitchFamily="34" charset="0"/>
                <a:ea typeface="Arial" pitchFamily="34" charset="-122"/>
                <a:cs typeface="Arial" pitchFamily="34" charset="-120"/>
              </a:rPr>
              <a:t>Guardrails operate inline with every LLM invocation. Each prompt and response is validated against defined policies before processing or delivery.</a:t>
            </a:r>
            <a:endParaRPr lang="en-US" sz="900" dirty="0"/>
          </a:p>
        </p:txBody>
      </p:sp>
      <p:sp>
        <p:nvSpPr>
          <p:cNvPr id="13" name="Text 11"/>
          <p:cNvSpPr/>
          <p:nvPr/>
        </p:nvSpPr>
        <p:spPr>
          <a:xfrm>
            <a:off x="4657725" y="1047750"/>
            <a:ext cx="4105275" cy="3505200"/>
          </a:xfrm>
          <a:prstGeom prst="roundRect">
            <a:avLst>
              <a:gd name="adj" fmla="val 1630"/>
            </a:avLst>
          </a:prstGeom>
          <a:solidFill>
            <a:srgbClr val="F3F4F6"/>
          </a:solidFill>
          <a:ln w="19050">
            <a:solidFill>
              <a:srgbClr val="1E3A8A"/>
            </a:solidFill>
          </a:ln>
        </p:spPr>
        <p:txBody>
          <a:bodyPr wrap="square" rtlCol="0" anchor="ctr"/>
          <a:lstStyle/>
          <a:p>
            <a:pPr indent="0" marL="0">
              <a:buNone/>
            </a:pPr>
            <a:endParaRPr lang="en-US" dirty="0"/>
          </a:p>
        </p:txBody>
      </p:sp>
      <p:sp>
        <p:nvSpPr>
          <p:cNvPr id="14" name="Text 12"/>
          <p:cNvSpPr/>
          <p:nvPr/>
        </p:nvSpPr>
        <p:spPr>
          <a:xfrm>
            <a:off x="4848225" y="1276350"/>
            <a:ext cx="3798761" cy="228600"/>
          </a:xfrm>
          <a:prstGeom prst="rect">
            <a:avLst/>
          </a:prstGeom>
          <a:noFill/>
          <a:ln/>
        </p:spPr>
        <p:txBody>
          <a:bodyPr wrap="square" lIns="0" tIns="0" rIns="0" bIns="0" rtlCol="0" anchor="t"/>
          <a:lstStyle/>
          <a:p>
            <a:pPr algn="l" indent="0" marL="0">
              <a:lnSpc>
                <a:spcPts val="1800"/>
              </a:lnSpc>
              <a:spcBef>
                <a:spcPts val="300"/>
              </a:spcBef>
              <a:spcAft>
                <a:spcPts val="900"/>
              </a:spcAft>
              <a:buNone/>
            </a:pPr>
            <a:r>
              <a:rPr lang="en-US" sz="1200" b="1" dirty="0">
                <a:solidFill>
                  <a:srgbClr val="1E3A8A"/>
                </a:solidFill>
                <a:latin typeface="Arial" pitchFamily="34" charset="0"/>
                <a:ea typeface="Arial" pitchFamily="34" charset="-122"/>
                <a:cs typeface="Arial" pitchFamily="34" charset="-120"/>
              </a:rPr>
              <a:t>Validation Workflow</a:t>
            </a:r>
            <a:endParaRPr lang="en-US" sz="1200" dirty="0"/>
          </a:p>
        </p:txBody>
      </p:sp>
      <p:sp>
        <p:nvSpPr>
          <p:cNvPr id="15" name="Text 13"/>
          <p:cNvSpPr/>
          <p:nvPr/>
        </p:nvSpPr>
        <p:spPr>
          <a:xfrm>
            <a:off x="4848225" y="1619250"/>
            <a:ext cx="266700" cy="266700"/>
          </a:xfrm>
          <a:prstGeom prst="roundRect">
            <a:avLst>
              <a:gd name="adj" fmla="val 342857"/>
            </a:avLst>
          </a:prstGeom>
          <a:solidFill>
            <a:srgbClr val="1E3A8A"/>
          </a:solidFill>
          <a:ln/>
        </p:spPr>
        <p:txBody>
          <a:bodyPr wrap="square" rtlCol="0" anchor="ctr"/>
          <a:lstStyle/>
          <a:p>
            <a:pPr indent="0" marL="0">
              <a:buNone/>
            </a:pPr>
            <a:endParaRPr lang="en-US" dirty="0"/>
          </a:p>
        </p:txBody>
      </p:sp>
      <p:sp>
        <p:nvSpPr>
          <p:cNvPr id="16" name="Text 14"/>
          <p:cNvSpPr/>
          <p:nvPr/>
        </p:nvSpPr>
        <p:spPr>
          <a:xfrm>
            <a:off x="4928592" y="1619250"/>
            <a:ext cx="10808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FFFFFF"/>
                </a:solidFill>
                <a:latin typeface="Arial" pitchFamily="34" charset="0"/>
                <a:ea typeface="Arial" pitchFamily="34" charset="-122"/>
                <a:cs typeface="Arial" pitchFamily="34" charset="-120"/>
              </a:rPr>
              <a:t>1</a:t>
            </a:r>
            <a:endParaRPr lang="en-US" sz="1500" dirty="0"/>
          </a:p>
        </p:txBody>
      </p:sp>
      <p:sp>
        <p:nvSpPr>
          <p:cNvPr id="17" name="Text 15"/>
          <p:cNvSpPr/>
          <p:nvPr/>
        </p:nvSpPr>
        <p:spPr>
          <a:xfrm>
            <a:off x="5210175" y="1657350"/>
            <a:ext cx="3429572" cy="190500"/>
          </a:xfrm>
          <a:prstGeom prst="rect">
            <a:avLst/>
          </a:prstGeom>
          <a:noFill/>
          <a:ln/>
        </p:spPr>
        <p:txBody>
          <a:bodyPr wrap="square" lIns="0" tIns="0" rIns="0" bIns="0" rtlCol="0" anchor="t"/>
          <a:lstStyle/>
          <a:p>
            <a:pPr algn="l" indent="0" marL="0">
              <a:lnSpc>
                <a:spcPts val="1500"/>
              </a:lnSpc>
              <a:spcBef>
                <a:spcPts val="300"/>
              </a:spcBef>
              <a:spcAft>
                <a:spcPts val="225"/>
              </a:spcAft>
              <a:buNone/>
            </a:pPr>
            <a:r>
              <a:rPr lang="en-US" sz="1050" b="1" dirty="0">
                <a:solidFill>
                  <a:srgbClr val="1F2937"/>
                </a:solidFill>
                <a:latin typeface="Arial" pitchFamily="34" charset="0"/>
                <a:ea typeface="Arial" pitchFamily="34" charset="-122"/>
                <a:cs typeface="Arial" pitchFamily="34" charset="-120"/>
              </a:rPr>
              <a:t>User Prompt Received</a:t>
            </a:r>
            <a:endParaRPr lang="en-US" sz="1050" dirty="0"/>
          </a:p>
        </p:txBody>
      </p:sp>
      <p:sp>
        <p:nvSpPr>
          <p:cNvPr id="18" name="Text 16"/>
          <p:cNvSpPr/>
          <p:nvPr/>
        </p:nvSpPr>
        <p:spPr>
          <a:xfrm>
            <a:off x="5210175" y="1885950"/>
            <a:ext cx="3429572" cy="152400"/>
          </a:xfrm>
          <a:prstGeom prst="rect">
            <a:avLst/>
          </a:prstGeom>
          <a:noFill/>
          <a:ln/>
        </p:spPr>
        <p:txBody>
          <a:bodyPr wrap="square" lIns="0" tIns="0" rIns="0" bIns="0" rtlCol="0" anchor="t"/>
          <a:lstStyle/>
          <a:p>
            <a:pPr algn="l" indent="0" marL="0">
              <a:lnSpc>
                <a:spcPts val="1200"/>
              </a:lnSpc>
              <a:spcBef>
                <a:spcPts val="300"/>
              </a:spcBef>
              <a:spcAft>
                <a:spcPts val="300"/>
              </a:spcAft>
              <a:buNone/>
            </a:pPr>
            <a:r>
              <a:rPr lang="en-US" sz="900" dirty="0">
                <a:solidFill>
                  <a:srgbClr val="6B7280"/>
                </a:solidFill>
                <a:latin typeface="Arial" pitchFamily="34" charset="0"/>
                <a:ea typeface="Arial" pitchFamily="34" charset="-122"/>
                <a:cs typeface="Arial" pitchFamily="34" charset="-120"/>
              </a:rPr>
              <a:t>Application sends request through LLM Gateway</a:t>
            </a:r>
            <a:endParaRPr lang="en-US" sz="900" dirty="0"/>
          </a:p>
        </p:txBody>
      </p:sp>
      <p:sp>
        <p:nvSpPr>
          <p:cNvPr id="19" name="Text 17"/>
          <p:cNvSpPr/>
          <p:nvPr/>
        </p:nvSpPr>
        <p:spPr>
          <a:xfrm>
            <a:off x="4848225" y="2190750"/>
            <a:ext cx="266700" cy="266700"/>
          </a:xfrm>
          <a:prstGeom prst="roundRect">
            <a:avLst>
              <a:gd name="adj" fmla="val 342857"/>
            </a:avLst>
          </a:prstGeom>
          <a:solidFill>
            <a:srgbClr val="1E3A8A"/>
          </a:solidFill>
          <a:ln/>
        </p:spPr>
        <p:txBody>
          <a:bodyPr wrap="square" rtlCol="0" anchor="ctr"/>
          <a:lstStyle/>
          <a:p>
            <a:pPr indent="0" marL="0">
              <a:buNone/>
            </a:pPr>
            <a:endParaRPr lang="en-US" dirty="0"/>
          </a:p>
        </p:txBody>
      </p:sp>
      <p:sp>
        <p:nvSpPr>
          <p:cNvPr id="20" name="Text 18"/>
          <p:cNvSpPr/>
          <p:nvPr/>
        </p:nvSpPr>
        <p:spPr>
          <a:xfrm>
            <a:off x="4928592" y="2190750"/>
            <a:ext cx="10808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FFFFFF"/>
                </a:solidFill>
                <a:latin typeface="Arial" pitchFamily="34" charset="0"/>
                <a:ea typeface="Arial" pitchFamily="34" charset="-122"/>
                <a:cs typeface="Arial" pitchFamily="34" charset="-120"/>
              </a:rPr>
              <a:t>2</a:t>
            </a:r>
            <a:endParaRPr lang="en-US" sz="1500" dirty="0"/>
          </a:p>
        </p:txBody>
      </p:sp>
      <p:sp>
        <p:nvSpPr>
          <p:cNvPr id="21" name="Text 19"/>
          <p:cNvSpPr/>
          <p:nvPr/>
        </p:nvSpPr>
        <p:spPr>
          <a:xfrm>
            <a:off x="5210175" y="2228850"/>
            <a:ext cx="3429572" cy="190500"/>
          </a:xfrm>
          <a:prstGeom prst="rect">
            <a:avLst/>
          </a:prstGeom>
          <a:noFill/>
          <a:ln/>
        </p:spPr>
        <p:txBody>
          <a:bodyPr wrap="square" lIns="0" tIns="0" rIns="0" bIns="0" rtlCol="0" anchor="t"/>
          <a:lstStyle/>
          <a:p>
            <a:pPr algn="l" indent="0" marL="0">
              <a:lnSpc>
                <a:spcPts val="1500"/>
              </a:lnSpc>
              <a:spcBef>
                <a:spcPts val="300"/>
              </a:spcBef>
              <a:spcAft>
                <a:spcPts val="225"/>
              </a:spcAft>
              <a:buNone/>
            </a:pPr>
            <a:r>
              <a:rPr lang="en-US" sz="1050" b="1" dirty="0">
                <a:solidFill>
                  <a:srgbClr val="1F2937"/>
                </a:solidFill>
                <a:latin typeface="Arial" pitchFamily="34" charset="0"/>
                <a:ea typeface="Arial" pitchFamily="34" charset="-122"/>
                <a:cs typeface="Arial" pitchFamily="34" charset="-120"/>
              </a:rPr>
              <a:t>Prompt Validation</a:t>
            </a:r>
            <a:endParaRPr lang="en-US" sz="1050" dirty="0"/>
          </a:p>
        </p:txBody>
      </p:sp>
      <p:sp>
        <p:nvSpPr>
          <p:cNvPr id="22" name="Text 20"/>
          <p:cNvSpPr/>
          <p:nvPr/>
        </p:nvSpPr>
        <p:spPr>
          <a:xfrm>
            <a:off x="5210175" y="2457450"/>
            <a:ext cx="3429572" cy="152400"/>
          </a:xfrm>
          <a:prstGeom prst="rect">
            <a:avLst/>
          </a:prstGeom>
          <a:noFill/>
          <a:ln/>
        </p:spPr>
        <p:txBody>
          <a:bodyPr wrap="square" lIns="0" tIns="0" rIns="0" bIns="0" rtlCol="0" anchor="t"/>
          <a:lstStyle/>
          <a:p>
            <a:pPr algn="l" indent="0" marL="0">
              <a:lnSpc>
                <a:spcPts val="1200"/>
              </a:lnSpc>
              <a:spcBef>
                <a:spcPts val="300"/>
              </a:spcBef>
              <a:spcAft>
                <a:spcPts val="300"/>
              </a:spcAft>
              <a:buNone/>
            </a:pPr>
            <a:r>
              <a:rPr lang="en-US" sz="900" dirty="0">
                <a:solidFill>
                  <a:srgbClr val="6B7280"/>
                </a:solidFill>
                <a:latin typeface="Arial" pitchFamily="34" charset="0"/>
                <a:ea typeface="Arial" pitchFamily="34" charset="-122"/>
                <a:cs typeface="Arial" pitchFamily="34" charset="-120"/>
              </a:rPr>
              <a:t>Guardrails check for PII, injections, policy violations</a:t>
            </a:r>
            <a:endParaRPr lang="en-US" sz="900" dirty="0"/>
          </a:p>
        </p:txBody>
      </p:sp>
      <p:sp>
        <p:nvSpPr>
          <p:cNvPr id="23" name="Text 21"/>
          <p:cNvSpPr/>
          <p:nvPr/>
        </p:nvSpPr>
        <p:spPr>
          <a:xfrm>
            <a:off x="4848225" y="2762250"/>
            <a:ext cx="266700" cy="266700"/>
          </a:xfrm>
          <a:prstGeom prst="roundRect">
            <a:avLst>
              <a:gd name="adj" fmla="val 342857"/>
            </a:avLst>
          </a:prstGeom>
          <a:solidFill>
            <a:srgbClr val="1E3A8A"/>
          </a:solidFill>
          <a:ln/>
        </p:spPr>
        <p:txBody>
          <a:bodyPr wrap="square" rtlCol="0" anchor="ctr"/>
          <a:lstStyle/>
          <a:p>
            <a:pPr indent="0" marL="0">
              <a:buNone/>
            </a:pPr>
            <a:endParaRPr lang="en-US" dirty="0"/>
          </a:p>
        </p:txBody>
      </p:sp>
      <p:sp>
        <p:nvSpPr>
          <p:cNvPr id="24" name="Text 22"/>
          <p:cNvSpPr/>
          <p:nvPr/>
        </p:nvSpPr>
        <p:spPr>
          <a:xfrm>
            <a:off x="4928592" y="2762250"/>
            <a:ext cx="10808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FFFFFF"/>
                </a:solidFill>
                <a:latin typeface="Arial" pitchFamily="34" charset="0"/>
                <a:ea typeface="Arial" pitchFamily="34" charset="-122"/>
                <a:cs typeface="Arial" pitchFamily="34" charset="-120"/>
              </a:rPr>
              <a:t>3</a:t>
            </a:r>
            <a:endParaRPr lang="en-US" sz="1500" dirty="0"/>
          </a:p>
        </p:txBody>
      </p:sp>
      <p:sp>
        <p:nvSpPr>
          <p:cNvPr id="25" name="Text 23"/>
          <p:cNvSpPr/>
          <p:nvPr/>
        </p:nvSpPr>
        <p:spPr>
          <a:xfrm>
            <a:off x="5210175" y="2800350"/>
            <a:ext cx="3429572" cy="190500"/>
          </a:xfrm>
          <a:prstGeom prst="rect">
            <a:avLst/>
          </a:prstGeom>
          <a:noFill/>
          <a:ln/>
        </p:spPr>
        <p:txBody>
          <a:bodyPr wrap="square" lIns="0" tIns="0" rIns="0" bIns="0" rtlCol="0" anchor="t"/>
          <a:lstStyle/>
          <a:p>
            <a:pPr algn="l" indent="0" marL="0">
              <a:lnSpc>
                <a:spcPts val="1500"/>
              </a:lnSpc>
              <a:spcBef>
                <a:spcPts val="300"/>
              </a:spcBef>
              <a:spcAft>
                <a:spcPts val="225"/>
              </a:spcAft>
              <a:buNone/>
            </a:pPr>
            <a:r>
              <a:rPr lang="en-US" sz="1050" b="1" dirty="0">
                <a:solidFill>
                  <a:srgbClr val="1F2937"/>
                </a:solidFill>
                <a:latin typeface="Arial" pitchFamily="34" charset="0"/>
                <a:ea typeface="Arial" pitchFamily="34" charset="-122"/>
                <a:cs typeface="Arial" pitchFamily="34" charset="-120"/>
              </a:rPr>
              <a:t>Model Invocation</a:t>
            </a:r>
            <a:endParaRPr lang="en-US" sz="1050" dirty="0"/>
          </a:p>
        </p:txBody>
      </p:sp>
      <p:sp>
        <p:nvSpPr>
          <p:cNvPr id="26" name="Text 24"/>
          <p:cNvSpPr/>
          <p:nvPr/>
        </p:nvSpPr>
        <p:spPr>
          <a:xfrm>
            <a:off x="5210175" y="3028950"/>
            <a:ext cx="3429572" cy="152400"/>
          </a:xfrm>
          <a:prstGeom prst="rect">
            <a:avLst/>
          </a:prstGeom>
          <a:noFill/>
          <a:ln/>
        </p:spPr>
        <p:txBody>
          <a:bodyPr wrap="square" lIns="0" tIns="0" rIns="0" bIns="0" rtlCol="0" anchor="t"/>
          <a:lstStyle/>
          <a:p>
            <a:pPr algn="l" indent="0" marL="0">
              <a:lnSpc>
                <a:spcPts val="1200"/>
              </a:lnSpc>
              <a:spcBef>
                <a:spcPts val="300"/>
              </a:spcBef>
              <a:spcAft>
                <a:spcPts val="300"/>
              </a:spcAft>
              <a:buNone/>
            </a:pPr>
            <a:r>
              <a:rPr lang="en-US" sz="900" dirty="0">
                <a:solidFill>
                  <a:srgbClr val="6B7280"/>
                </a:solidFill>
                <a:latin typeface="Arial" pitchFamily="34" charset="0"/>
                <a:ea typeface="Arial" pitchFamily="34" charset="-122"/>
                <a:cs typeface="Arial" pitchFamily="34" charset="-120"/>
              </a:rPr>
              <a:t>If passed, request forwarded to Bedrock model</a:t>
            </a:r>
            <a:endParaRPr lang="en-US" sz="900" dirty="0"/>
          </a:p>
        </p:txBody>
      </p:sp>
      <p:sp>
        <p:nvSpPr>
          <p:cNvPr id="27" name="Text 25"/>
          <p:cNvSpPr/>
          <p:nvPr/>
        </p:nvSpPr>
        <p:spPr>
          <a:xfrm>
            <a:off x="4848225" y="3333750"/>
            <a:ext cx="266700" cy="266700"/>
          </a:xfrm>
          <a:prstGeom prst="roundRect">
            <a:avLst>
              <a:gd name="adj" fmla="val 342857"/>
            </a:avLst>
          </a:prstGeom>
          <a:solidFill>
            <a:srgbClr val="1E3A8A"/>
          </a:solidFill>
          <a:ln/>
        </p:spPr>
        <p:txBody>
          <a:bodyPr wrap="square" rtlCol="0" anchor="ctr"/>
          <a:lstStyle/>
          <a:p>
            <a:pPr indent="0" marL="0">
              <a:buNone/>
            </a:pPr>
            <a:endParaRPr lang="en-US" dirty="0"/>
          </a:p>
        </p:txBody>
      </p:sp>
      <p:sp>
        <p:nvSpPr>
          <p:cNvPr id="28" name="Text 26"/>
          <p:cNvSpPr/>
          <p:nvPr/>
        </p:nvSpPr>
        <p:spPr>
          <a:xfrm>
            <a:off x="4928592" y="3333750"/>
            <a:ext cx="10808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FFFFFF"/>
                </a:solidFill>
                <a:latin typeface="Arial" pitchFamily="34" charset="0"/>
                <a:ea typeface="Arial" pitchFamily="34" charset="-122"/>
                <a:cs typeface="Arial" pitchFamily="34" charset="-120"/>
              </a:rPr>
              <a:t>4</a:t>
            </a:r>
            <a:endParaRPr lang="en-US" sz="1500" dirty="0"/>
          </a:p>
        </p:txBody>
      </p:sp>
      <p:sp>
        <p:nvSpPr>
          <p:cNvPr id="29" name="Text 27"/>
          <p:cNvSpPr/>
          <p:nvPr/>
        </p:nvSpPr>
        <p:spPr>
          <a:xfrm>
            <a:off x="5210175" y="3371850"/>
            <a:ext cx="3429572" cy="190500"/>
          </a:xfrm>
          <a:prstGeom prst="rect">
            <a:avLst/>
          </a:prstGeom>
          <a:noFill/>
          <a:ln/>
        </p:spPr>
        <p:txBody>
          <a:bodyPr wrap="square" lIns="0" tIns="0" rIns="0" bIns="0" rtlCol="0" anchor="t"/>
          <a:lstStyle/>
          <a:p>
            <a:pPr algn="l" indent="0" marL="0">
              <a:lnSpc>
                <a:spcPts val="1500"/>
              </a:lnSpc>
              <a:spcBef>
                <a:spcPts val="300"/>
              </a:spcBef>
              <a:spcAft>
                <a:spcPts val="225"/>
              </a:spcAft>
              <a:buNone/>
            </a:pPr>
            <a:r>
              <a:rPr lang="en-US" sz="1050" b="1" dirty="0">
                <a:solidFill>
                  <a:srgbClr val="1F2937"/>
                </a:solidFill>
                <a:latin typeface="Arial" pitchFamily="34" charset="0"/>
                <a:ea typeface="Arial" pitchFamily="34" charset="-122"/>
                <a:cs typeface="Arial" pitchFamily="34" charset="-120"/>
              </a:rPr>
              <a:t>Response Validation</a:t>
            </a:r>
            <a:endParaRPr lang="en-US" sz="1050" dirty="0"/>
          </a:p>
        </p:txBody>
      </p:sp>
      <p:sp>
        <p:nvSpPr>
          <p:cNvPr id="30" name="Text 28"/>
          <p:cNvSpPr/>
          <p:nvPr/>
        </p:nvSpPr>
        <p:spPr>
          <a:xfrm>
            <a:off x="5210175" y="3600450"/>
            <a:ext cx="3429572" cy="152400"/>
          </a:xfrm>
          <a:prstGeom prst="rect">
            <a:avLst/>
          </a:prstGeom>
          <a:noFill/>
          <a:ln/>
        </p:spPr>
        <p:txBody>
          <a:bodyPr wrap="square" lIns="0" tIns="0" rIns="0" bIns="0" rtlCol="0" anchor="t"/>
          <a:lstStyle/>
          <a:p>
            <a:pPr algn="l" indent="0" marL="0">
              <a:lnSpc>
                <a:spcPts val="1200"/>
              </a:lnSpc>
              <a:spcBef>
                <a:spcPts val="300"/>
              </a:spcBef>
              <a:spcAft>
                <a:spcPts val="300"/>
              </a:spcAft>
              <a:buNone/>
            </a:pPr>
            <a:r>
              <a:rPr lang="en-US" sz="900" dirty="0">
                <a:solidFill>
                  <a:srgbClr val="6B7280"/>
                </a:solidFill>
                <a:latin typeface="Arial" pitchFamily="34" charset="0"/>
                <a:ea typeface="Arial" pitchFamily="34" charset="-122"/>
                <a:cs typeface="Arial" pitchFamily="34" charset="-120"/>
              </a:rPr>
              <a:t>Model output checked against content policies</a:t>
            </a:r>
            <a:endParaRPr lang="en-US" sz="900" dirty="0"/>
          </a:p>
        </p:txBody>
      </p:sp>
      <p:sp>
        <p:nvSpPr>
          <p:cNvPr id="31" name="Text 29"/>
          <p:cNvSpPr/>
          <p:nvPr/>
        </p:nvSpPr>
        <p:spPr>
          <a:xfrm>
            <a:off x="4848225" y="3943350"/>
            <a:ext cx="3798761" cy="190500"/>
          </a:xfrm>
          <a:prstGeom prst="rect">
            <a:avLst/>
          </a:prstGeom>
          <a:noFill/>
          <a:ln/>
        </p:spPr>
        <p:txBody>
          <a:bodyPr wrap="square" lIns="0" tIns="0" rIns="0" bIns="0" rtlCol="0" anchor="t"/>
          <a:lstStyle/>
          <a:p>
            <a:pPr algn="l" indent="0" marL="0">
              <a:lnSpc>
                <a:spcPts val="1500"/>
              </a:lnSpc>
              <a:spcBef>
                <a:spcPts val="300"/>
              </a:spcBef>
              <a:spcAft>
                <a:spcPts val="225"/>
              </a:spcAft>
              <a:buNone/>
            </a:pPr>
            <a:r>
              <a:rPr lang="en-US" sz="1050" b="1" dirty="0">
                <a:solidFill>
                  <a:srgbClr val="1F2937"/>
                </a:solidFill>
                <a:latin typeface="Arial" pitchFamily="34" charset="0"/>
                <a:ea typeface="Arial" pitchFamily="34" charset="-122"/>
                <a:cs typeface="Arial" pitchFamily="34" charset="-120"/>
              </a:rPr>
              <a:t>Delivery or Block</a:t>
            </a:r>
            <a:endParaRPr lang="en-US" sz="1050" dirty="0"/>
          </a:p>
        </p:txBody>
      </p:sp>
      <p:sp>
        <p:nvSpPr>
          <p:cNvPr id="32" name="Text 30"/>
          <p:cNvSpPr/>
          <p:nvPr/>
        </p:nvSpPr>
        <p:spPr>
          <a:xfrm>
            <a:off x="4848225" y="4171950"/>
            <a:ext cx="3798761" cy="152400"/>
          </a:xfrm>
          <a:prstGeom prst="rect">
            <a:avLst/>
          </a:prstGeom>
          <a:noFill/>
          <a:ln/>
        </p:spPr>
        <p:txBody>
          <a:bodyPr wrap="square" lIns="0" tIns="0" rIns="0" bIns="0" rtlCol="0" anchor="t"/>
          <a:lstStyle/>
          <a:p>
            <a:pPr algn="l" indent="0" marL="0">
              <a:lnSpc>
                <a:spcPts val="1200"/>
              </a:lnSpc>
              <a:spcBef>
                <a:spcPts val="300"/>
              </a:spcBef>
              <a:spcAft>
                <a:spcPts val="300"/>
              </a:spcAft>
              <a:buNone/>
            </a:pPr>
            <a:r>
              <a:rPr lang="en-US" sz="900" dirty="0">
                <a:solidFill>
                  <a:srgbClr val="6B7280"/>
                </a:solidFill>
                <a:latin typeface="Arial" pitchFamily="34" charset="0"/>
                <a:ea typeface="Arial" pitchFamily="34" charset="-122"/>
                <a:cs typeface="Arial" pitchFamily="34" charset="-120"/>
              </a:rPr>
              <a:t>Response returned to user or rejected with reason</a:t>
            </a:r>
            <a:endParaRPr lang="en-US" sz="900" dirty="0"/>
          </a:p>
        </p:txBody>
      </p:sp>
      <p:sp>
        <p:nvSpPr>
          <p:cNvPr id="33" name="Text 31"/>
          <p:cNvSpPr/>
          <p:nvPr/>
        </p:nvSpPr>
        <p:spPr>
          <a:xfrm>
            <a:off x="4657725" y="4667250"/>
            <a:ext cx="4105275" cy="228600"/>
          </a:xfrm>
          <a:prstGeom prst="roundRect">
            <a:avLst>
              <a:gd name="adj" fmla="val 25000"/>
            </a:avLst>
          </a:prstGeom>
          <a:solidFill>
            <a:srgbClr val="0D9488"/>
          </a:solidFill>
          <a:ln/>
        </p:spPr>
        <p:txBody>
          <a:bodyPr wrap="square" rtlCol="0" anchor="ctr"/>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342900"/>
            <a:ext cx="4546854" cy="342900"/>
          </a:xfrm>
          <a:prstGeom prst="rect">
            <a:avLst/>
          </a:prstGeom>
          <a:noFill/>
          <a:ln/>
        </p:spPr>
        <p:txBody>
          <a:bodyPr wrap="square" lIns="0" tIns="0" rIns="0" bIns="0" rtlCol="0" anchor="t"/>
          <a:lstStyle/>
          <a:p>
            <a:pPr algn="l" indent="0" marL="0">
              <a:lnSpc>
                <a:spcPts val="2700"/>
              </a:lnSpc>
              <a:spcAft>
                <a:spcPts val="600"/>
              </a:spcAft>
              <a:buNone/>
            </a:pPr>
            <a:r>
              <a:rPr lang="en-US" sz="2250" b="1" dirty="0">
                <a:solidFill>
                  <a:srgbClr val="1E3A8A"/>
                </a:solidFill>
                <a:latin typeface="Arial" pitchFamily="34" charset="0"/>
                <a:ea typeface="Arial" pitchFamily="34" charset="-122"/>
                <a:cs typeface="Arial" pitchFamily="34" charset="-120"/>
              </a:rPr>
              <a:t>Access Control &amp; Authentication</a:t>
            </a:r>
            <a:endParaRPr lang="en-US" sz="2250" dirty="0"/>
          </a:p>
        </p:txBody>
      </p:sp>
      <p:sp>
        <p:nvSpPr>
          <p:cNvPr id="4" name="Text 2"/>
          <p:cNvSpPr/>
          <p:nvPr/>
        </p:nvSpPr>
        <p:spPr>
          <a:xfrm>
            <a:off x="381000" y="942975"/>
            <a:ext cx="4457700" cy="2286000"/>
          </a:xfrm>
          <a:prstGeom prst="roundRect">
            <a:avLst>
              <a:gd name="adj" fmla="val 2500"/>
            </a:avLst>
          </a:prstGeom>
          <a:solidFill>
            <a:srgbClr val="1E3A8A"/>
          </a:solidFill>
          <a:ln/>
        </p:spPr>
        <p:txBody>
          <a:bodyPr wrap="square" rtlCol="0" anchor="ctr"/>
          <a:lstStyle/>
          <a:p>
            <a:pPr indent="0" marL="0">
              <a:buNone/>
            </a:pPr>
            <a:endParaRPr lang="en-US" dirty="0"/>
          </a:p>
        </p:txBody>
      </p:sp>
      <p:sp>
        <p:nvSpPr>
          <p:cNvPr id="5" name="Text 3"/>
          <p:cNvSpPr/>
          <p:nvPr/>
        </p:nvSpPr>
        <p:spPr>
          <a:xfrm>
            <a:off x="552450" y="1152525"/>
            <a:ext cx="4197096" cy="266700"/>
          </a:xfrm>
          <a:prstGeom prst="rect">
            <a:avLst/>
          </a:prstGeom>
          <a:noFill/>
          <a:ln/>
        </p:spPr>
        <p:txBody>
          <a:bodyPr wrap="square" lIns="0" tIns="0" rIns="0" bIns="0" rtlCol="0" anchor="t"/>
          <a:lstStyle/>
          <a:p>
            <a:pPr algn="l" indent="0" marL="0">
              <a:lnSpc>
                <a:spcPts val="2100"/>
              </a:lnSpc>
              <a:spcBef>
                <a:spcPts val="300"/>
              </a:spcBef>
              <a:spcAft>
                <a:spcPts val="900"/>
              </a:spcAft>
              <a:buNone/>
            </a:pPr>
            <a:r>
              <a:rPr lang="en-US" sz="1350" b="1" dirty="0">
                <a:solidFill>
                  <a:srgbClr val="FFFFFF"/>
                </a:solidFill>
                <a:latin typeface="Arial" pitchFamily="34" charset="0"/>
                <a:ea typeface="Arial" pitchFamily="34" charset="-122"/>
                <a:cs typeface="Arial" pitchFamily="34" charset="-120"/>
              </a:rPr>
              <a:t>Role-Based Access Control (RBAC)</a:t>
            </a:r>
            <a:endParaRPr lang="en-US" sz="1350" dirty="0"/>
          </a:p>
        </p:txBody>
      </p:sp>
      <p:sp>
        <p:nvSpPr>
          <p:cNvPr id="6" name="Text 4"/>
          <p:cNvSpPr/>
          <p:nvPr/>
        </p:nvSpPr>
        <p:spPr>
          <a:xfrm>
            <a:off x="552450" y="1571625"/>
            <a:ext cx="419709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Model-Level Permissions:</a:t>
            </a:r>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 Granular control over which users and applications can access specific foundation and embedding models</a:t>
            </a:r>
            <a:endParaRPr lang="en-US" sz="1050" dirty="0"/>
          </a:p>
        </p:txBody>
      </p:sp>
      <p:sp>
        <p:nvSpPr>
          <p:cNvPr id="7" name="Text 5"/>
          <p:cNvSpPr/>
          <p:nvPr/>
        </p:nvSpPr>
        <p:spPr>
          <a:xfrm>
            <a:off x="552450" y="2105025"/>
            <a:ext cx="419709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LLM Gateway Enforcement:</a:t>
            </a:r>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 Access policies enforced at the gateway layer before requests reach AWS Bedrock</a:t>
            </a:r>
            <a:endParaRPr lang="en-US" sz="1050" dirty="0"/>
          </a:p>
        </p:txBody>
      </p:sp>
      <p:sp>
        <p:nvSpPr>
          <p:cNvPr id="8" name="Text 6"/>
          <p:cNvSpPr/>
          <p:nvPr/>
        </p:nvSpPr>
        <p:spPr>
          <a:xfrm>
            <a:off x="552450" y="2638425"/>
            <a:ext cx="419709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Enterprise Integration:</a:t>
            </a:r>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 Synchronized with existing enterprise identity and access management systems</a:t>
            </a:r>
            <a:endParaRPr lang="en-US" sz="1050" dirty="0"/>
          </a:p>
        </p:txBody>
      </p:sp>
      <p:sp>
        <p:nvSpPr>
          <p:cNvPr id="9" name="Text 7"/>
          <p:cNvSpPr/>
          <p:nvPr/>
        </p:nvSpPr>
        <p:spPr>
          <a:xfrm>
            <a:off x="4991100" y="1038225"/>
            <a:ext cx="3771900" cy="2095500"/>
          </a:xfrm>
          <a:prstGeom prst="roundRect">
            <a:avLst>
              <a:gd name="adj" fmla="val 2727"/>
            </a:avLst>
          </a:prstGeom>
          <a:solidFill>
            <a:srgbClr val="0D9488"/>
          </a:solidFill>
          <a:ln/>
        </p:spPr>
        <p:txBody>
          <a:bodyPr wrap="square" rtlCol="0" anchor="ctr"/>
          <a:lstStyle/>
          <a:p>
            <a:pPr indent="0" marL="0">
              <a:buNone/>
            </a:pPr>
            <a:endParaRPr lang="en-US" dirty="0"/>
          </a:p>
        </p:txBody>
      </p:sp>
      <p:sp>
        <p:nvSpPr>
          <p:cNvPr id="10" name="Text 8"/>
          <p:cNvSpPr/>
          <p:nvPr/>
        </p:nvSpPr>
        <p:spPr>
          <a:xfrm>
            <a:off x="5162550" y="1247775"/>
            <a:ext cx="3497580" cy="266700"/>
          </a:xfrm>
          <a:prstGeom prst="rect">
            <a:avLst/>
          </a:prstGeom>
          <a:noFill/>
          <a:ln/>
        </p:spPr>
        <p:txBody>
          <a:bodyPr wrap="square" lIns="0" tIns="0" rIns="0" bIns="0" rtlCol="0" anchor="t"/>
          <a:lstStyle/>
          <a:p>
            <a:pPr algn="l" indent="0" marL="0">
              <a:lnSpc>
                <a:spcPts val="2100"/>
              </a:lnSpc>
              <a:spcBef>
                <a:spcPts val="300"/>
              </a:spcBef>
              <a:spcAft>
                <a:spcPts val="900"/>
              </a:spcAft>
              <a:buNone/>
            </a:pPr>
            <a:r>
              <a:rPr lang="en-US" sz="1350" b="1" dirty="0">
                <a:solidFill>
                  <a:srgbClr val="FFFFFF"/>
                </a:solidFill>
                <a:latin typeface="Arial" pitchFamily="34" charset="0"/>
                <a:ea typeface="Arial" pitchFamily="34" charset="-122"/>
                <a:cs typeface="Arial" pitchFamily="34" charset="-120"/>
              </a:rPr>
              <a:t>Session Management</a:t>
            </a:r>
            <a:endParaRPr lang="en-US" sz="1350" dirty="0"/>
          </a:p>
        </p:txBody>
      </p:sp>
      <p:sp>
        <p:nvSpPr>
          <p:cNvPr id="11" name="Text 9"/>
          <p:cNvSpPr/>
          <p:nvPr/>
        </p:nvSpPr>
        <p:spPr>
          <a:xfrm>
            <a:off x="5162550" y="1666875"/>
            <a:ext cx="3497580"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Active Monitoring:</a:t>
            </a:r>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 Real-time tracking of user sessions</a:t>
            </a:r>
            <a:endParaRPr lang="en-US" sz="1050" dirty="0"/>
          </a:p>
        </p:txBody>
      </p:sp>
      <p:sp>
        <p:nvSpPr>
          <p:cNvPr id="12" name="Text 10"/>
          <p:cNvSpPr/>
          <p:nvPr/>
        </p:nvSpPr>
        <p:spPr>
          <a:xfrm>
            <a:off x="5162550" y="2009775"/>
            <a:ext cx="3497580"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Timeout Policies:</a:t>
            </a:r>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 Automatic session termination after inactivity periods</a:t>
            </a:r>
            <a:endParaRPr lang="en-US" sz="1050" dirty="0"/>
          </a:p>
        </p:txBody>
      </p:sp>
      <p:sp>
        <p:nvSpPr>
          <p:cNvPr id="13" name="Text 11"/>
          <p:cNvSpPr/>
          <p:nvPr/>
        </p:nvSpPr>
        <p:spPr>
          <a:xfrm>
            <a:off x="5162550" y="2543175"/>
            <a:ext cx="3497580"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Concurrency Controls:</a:t>
            </a:r>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 Limits on simultaneous sessions per user</a:t>
            </a:r>
            <a:endParaRPr lang="en-US" sz="1050" dirty="0"/>
          </a:p>
        </p:txBody>
      </p:sp>
      <p:sp>
        <p:nvSpPr>
          <p:cNvPr id="14" name="Text 12"/>
          <p:cNvSpPr/>
          <p:nvPr/>
        </p:nvSpPr>
        <p:spPr>
          <a:xfrm>
            <a:off x="381000" y="3362325"/>
            <a:ext cx="8382000" cy="1714500"/>
          </a:xfrm>
          <a:prstGeom prst="roundRect">
            <a:avLst>
              <a:gd name="adj" fmla="val 3333"/>
            </a:avLst>
          </a:prstGeom>
          <a:solidFill>
            <a:srgbClr val="F3F4F6"/>
          </a:solidFill>
          <a:ln w="19050">
            <a:solidFill>
              <a:srgbClr val="1E3A8A"/>
            </a:solidFill>
          </a:ln>
        </p:spPr>
        <p:txBody>
          <a:bodyPr wrap="square" rtlCol="0" anchor="ctr"/>
          <a:lstStyle/>
          <a:p>
            <a:pPr indent="0" marL="0">
              <a:buNone/>
            </a:pPr>
            <a:endParaRPr lang="en-US" dirty="0"/>
          </a:p>
        </p:txBody>
      </p:sp>
      <p:sp>
        <p:nvSpPr>
          <p:cNvPr id="15" name="Text 13"/>
          <p:cNvSpPr/>
          <p:nvPr/>
        </p:nvSpPr>
        <p:spPr>
          <a:xfrm>
            <a:off x="571500" y="3590925"/>
            <a:ext cx="8161020" cy="228600"/>
          </a:xfrm>
          <a:prstGeom prst="rect">
            <a:avLst/>
          </a:prstGeom>
          <a:noFill/>
          <a:ln/>
        </p:spPr>
        <p:txBody>
          <a:bodyPr wrap="square" lIns="0" tIns="0" rIns="0" bIns="0" rtlCol="0" anchor="t"/>
          <a:lstStyle/>
          <a:p>
            <a:pPr algn="l" indent="0" marL="0">
              <a:lnSpc>
                <a:spcPts val="1800"/>
              </a:lnSpc>
              <a:spcBef>
                <a:spcPts val="300"/>
              </a:spcBef>
              <a:spcAft>
                <a:spcPts val="900"/>
              </a:spcAft>
              <a:buNone/>
            </a:pPr>
            <a:r>
              <a:rPr lang="en-US" sz="1200" b="1" dirty="0">
                <a:solidFill>
                  <a:srgbClr val="1E3A8A"/>
                </a:solidFill>
                <a:latin typeface="Arial" pitchFamily="34" charset="0"/>
                <a:ea typeface="Arial" pitchFamily="34" charset="-122"/>
                <a:cs typeface="Arial" pitchFamily="34" charset="-120"/>
              </a:rPr>
              <a:t>Multi-Layer Access Control Architecture</a:t>
            </a:r>
            <a:endParaRPr lang="en-US" sz="1200" dirty="0"/>
          </a:p>
        </p:txBody>
      </p:sp>
      <p:sp>
        <p:nvSpPr>
          <p:cNvPr id="16" name="Text 14"/>
          <p:cNvSpPr/>
          <p:nvPr/>
        </p:nvSpPr>
        <p:spPr>
          <a:xfrm>
            <a:off x="571500" y="4038600"/>
            <a:ext cx="57150" cy="57150"/>
          </a:xfrm>
          <a:prstGeom prst="roundRect">
            <a:avLst>
              <a:gd name="adj" fmla="val 1600000"/>
            </a:avLst>
          </a:prstGeom>
          <a:solidFill>
            <a:srgbClr val="1E3A8A"/>
          </a:solidFill>
          <a:ln/>
        </p:spPr>
        <p:txBody>
          <a:bodyPr wrap="square" rtlCol="0" anchor="ctr"/>
          <a:lstStyle/>
          <a:p>
            <a:pPr indent="0" marL="0">
              <a:buNone/>
            </a:pPr>
            <a:endParaRPr lang="en-US" dirty="0"/>
          </a:p>
        </p:txBody>
      </p:sp>
      <p:sp>
        <p:nvSpPr>
          <p:cNvPr id="17" name="Text 15"/>
          <p:cNvSpPr/>
          <p:nvPr/>
        </p:nvSpPr>
        <p:spPr>
          <a:xfrm>
            <a:off x="704850" y="3971925"/>
            <a:ext cx="3130213"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Layer 1:</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AIDome application registration &amp; approval</a:t>
            </a:r>
            <a:endParaRPr lang="en-US" sz="1050" dirty="0"/>
          </a:p>
        </p:txBody>
      </p:sp>
      <p:sp>
        <p:nvSpPr>
          <p:cNvPr id="18" name="Text 16"/>
          <p:cNvSpPr/>
          <p:nvPr/>
        </p:nvSpPr>
        <p:spPr>
          <a:xfrm>
            <a:off x="571500" y="4381500"/>
            <a:ext cx="57150" cy="57150"/>
          </a:xfrm>
          <a:prstGeom prst="roundRect">
            <a:avLst>
              <a:gd name="adj" fmla="val 1600000"/>
            </a:avLst>
          </a:prstGeom>
          <a:solidFill>
            <a:srgbClr val="1E3A8A"/>
          </a:solidFill>
          <a:ln/>
        </p:spPr>
        <p:txBody>
          <a:bodyPr wrap="square" rtlCol="0" anchor="ctr"/>
          <a:lstStyle/>
          <a:p>
            <a:pPr indent="0" marL="0">
              <a:buNone/>
            </a:pPr>
            <a:endParaRPr lang="en-US" dirty="0"/>
          </a:p>
        </p:txBody>
      </p:sp>
      <p:sp>
        <p:nvSpPr>
          <p:cNvPr id="19" name="Text 17"/>
          <p:cNvSpPr/>
          <p:nvPr/>
        </p:nvSpPr>
        <p:spPr>
          <a:xfrm>
            <a:off x="704850" y="4314825"/>
            <a:ext cx="2948654"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Layer 2:</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Enterprise identity authentication (SSO)</a:t>
            </a:r>
            <a:endParaRPr lang="en-US" sz="1050" dirty="0"/>
          </a:p>
        </p:txBody>
      </p:sp>
      <p:sp>
        <p:nvSpPr>
          <p:cNvPr id="20" name="Text 18"/>
          <p:cNvSpPr/>
          <p:nvPr/>
        </p:nvSpPr>
        <p:spPr>
          <a:xfrm>
            <a:off x="571500" y="4724400"/>
            <a:ext cx="57150" cy="57150"/>
          </a:xfrm>
          <a:prstGeom prst="roundRect">
            <a:avLst>
              <a:gd name="adj" fmla="val 1600000"/>
            </a:avLst>
          </a:prstGeom>
          <a:solidFill>
            <a:srgbClr val="1E3A8A"/>
          </a:solidFill>
          <a:ln/>
        </p:spPr>
        <p:txBody>
          <a:bodyPr wrap="square" rtlCol="0" anchor="ctr"/>
          <a:lstStyle/>
          <a:p>
            <a:pPr indent="0" marL="0">
              <a:buNone/>
            </a:pPr>
            <a:endParaRPr lang="en-US" dirty="0"/>
          </a:p>
        </p:txBody>
      </p:sp>
      <p:sp>
        <p:nvSpPr>
          <p:cNvPr id="21" name="Text 19"/>
          <p:cNvSpPr/>
          <p:nvPr/>
        </p:nvSpPr>
        <p:spPr>
          <a:xfrm>
            <a:off x="704850" y="4657725"/>
            <a:ext cx="3333935"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Layer 3:</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RBAC at LLM Gateway for model permissions</a:t>
            </a:r>
            <a:endParaRPr lang="en-US" sz="1050" dirty="0"/>
          </a:p>
        </p:txBody>
      </p:sp>
      <p:sp>
        <p:nvSpPr>
          <p:cNvPr id="22" name="Text 20"/>
          <p:cNvSpPr/>
          <p:nvPr/>
        </p:nvSpPr>
        <p:spPr>
          <a:xfrm>
            <a:off x="4629150" y="4038600"/>
            <a:ext cx="57150" cy="57150"/>
          </a:xfrm>
          <a:prstGeom prst="roundRect">
            <a:avLst>
              <a:gd name="adj" fmla="val 1600000"/>
            </a:avLst>
          </a:prstGeom>
          <a:solidFill>
            <a:srgbClr val="0D9488"/>
          </a:solidFill>
          <a:ln/>
        </p:spPr>
        <p:txBody>
          <a:bodyPr wrap="square" rtlCol="0" anchor="ctr"/>
          <a:lstStyle/>
          <a:p>
            <a:pPr indent="0" marL="0">
              <a:buNone/>
            </a:pPr>
            <a:endParaRPr lang="en-US" dirty="0"/>
          </a:p>
        </p:txBody>
      </p:sp>
      <p:sp>
        <p:nvSpPr>
          <p:cNvPr id="23" name="Text 21"/>
          <p:cNvSpPr/>
          <p:nvPr/>
        </p:nvSpPr>
        <p:spPr>
          <a:xfrm>
            <a:off x="4762500" y="3971925"/>
            <a:ext cx="2646259"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Layer 4:</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Rate limiting and throttling controls</a:t>
            </a:r>
            <a:endParaRPr lang="en-US" sz="1050" dirty="0"/>
          </a:p>
        </p:txBody>
      </p:sp>
      <p:sp>
        <p:nvSpPr>
          <p:cNvPr id="24" name="Text 22"/>
          <p:cNvSpPr/>
          <p:nvPr/>
        </p:nvSpPr>
        <p:spPr>
          <a:xfrm>
            <a:off x="4629150" y="4381500"/>
            <a:ext cx="57150" cy="57150"/>
          </a:xfrm>
          <a:prstGeom prst="roundRect">
            <a:avLst>
              <a:gd name="adj" fmla="val 1600000"/>
            </a:avLst>
          </a:prstGeom>
          <a:solidFill>
            <a:srgbClr val="0D9488"/>
          </a:solidFill>
          <a:ln/>
        </p:spPr>
        <p:txBody>
          <a:bodyPr wrap="square" rtlCol="0" anchor="ctr"/>
          <a:lstStyle/>
          <a:p>
            <a:pPr indent="0" marL="0">
              <a:buNone/>
            </a:pPr>
            <a:endParaRPr lang="en-US" dirty="0"/>
          </a:p>
        </p:txBody>
      </p:sp>
      <p:sp>
        <p:nvSpPr>
          <p:cNvPr id="25" name="Text 23"/>
          <p:cNvSpPr/>
          <p:nvPr/>
        </p:nvSpPr>
        <p:spPr>
          <a:xfrm>
            <a:off x="4762500" y="4314825"/>
            <a:ext cx="2820227"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Layer 5:</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Bedrock Guardrails content validation</a:t>
            </a:r>
            <a:endParaRPr lang="en-US" sz="1050" dirty="0"/>
          </a:p>
        </p:txBody>
      </p:sp>
      <p:sp>
        <p:nvSpPr>
          <p:cNvPr id="26" name="Text 24"/>
          <p:cNvSpPr/>
          <p:nvPr/>
        </p:nvSpPr>
        <p:spPr>
          <a:xfrm>
            <a:off x="4629150" y="4724400"/>
            <a:ext cx="57150" cy="57150"/>
          </a:xfrm>
          <a:prstGeom prst="roundRect">
            <a:avLst>
              <a:gd name="adj" fmla="val 1600000"/>
            </a:avLst>
          </a:prstGeom>
          <a:solidFill>
            <a:srgbClr val="0D9488"/>
          </a:solidFill>
          <a:ln/>
        </p:spPr>
        <p:txBody>
          <a:bodyPr wrap="square" rtlCol="0" anchor="ctr"/>
          <a:lstStyle/>
          <a:p>
            <a:pPr indent="0" marL="0">
              <a:buNone/>
            </a:pPr>
            <a:endParaRPr lang="en-US" dirty="0"/>
          </a:p>
        </p:txBody>
      </p:sp>
      <p:sp>
        <p:nvSpPr>
          <p:cNvPr id="27" name="Text 25"/>
          <p:cNvSpPr/>
          <p:nvPr/>
        </p:nvSpPr>
        <p:spPr>
          <a:xfrm>
            <a:off x="4762500" y="4657725"/>
            <a:ext cx="2784705"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Layer 6:</a:t>
            </a:r>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 AWS IAM and resource-level policies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1238250"/>
            <a:ext cx="4478845" cy="342900"/>
          </a:xfrm>
          <a:prstGeom prst="rect">
            <a:avLst/>
          </a:prstGeom>
          <a:noFill/>
          <a:ln/>
        </p:spPr>
        <p:txBody>
          <a:bodyPr wrap="square" lIns="0" tIns="0" rIns="0" bIns="0" rtlCol="0" anchor="t"/>
          <a:lstStyle/>
          <a:p>
            <a:pPr algn="l" indent="0" marL="0">
              <a:lnSpc>
                <a:spcPts val="2700"/>
              </a:lnSpc>
              <a:buNone/>
            </a:pPr>
            <a:r>
              <a:rPr lang="en-US" sz="2250" b="1" dirty="0">
                <a:solidFill>
                  <a:srgbClr val="1E3A8A"/>
                </a:solidFill>
                <a:latin typeface="Arial" pitchFamily="34" charset="0"/>
                <a:ea typeface="Arial" pitchFamily="34" charset="-122"/>
                <a:cs typeface="Arial" pitchFamily="34" charset="-120"/>
              </a:rPr>
              <a:t>Monitoring &amp; Logging</a:t>
            </a:r>
            <a:endParaRPr lang="en-US" sz="2250" dirty="0"/>
          </a:p>
        </p:txBody>
      </p:sp>
      <p:sp>
        <p:nvSpPr>
          <p:cNvPr id="4" name="Text 2"/>
          <p:cNvSpPr/>
          <p:nvPr/>
        </p:nvSpPr>
        <p:spPr>
          <a:xfrm>
            <a:off x="381000" y="1885950"/>
            <a:ext cx="4114800" cy="1028700"/>
          </a:xfrm>
          <a:prstGeom prst="roundRect">
            <a:avLst>
              <a:gd name="adj" fmla="val 5556"/>
            </a:avLst>
          </a:prstGeom>
          <a:solidFill>
            <a:srgbClr val="1E3A8A"/>
          </a:solidFill>
          <a:ln/>
        </p:spPr>
        <p:txBody>
          <a:bodyPr wrap="square" rtlCol="0" anchor="ctr"/>
          <a:lstStyle/>
          <a:p>
            <a:pPr indent="0" marL="0">
              <a:buNone/>
            </a:pPr>
            <a:endParaRPr lang="en-US" dirty="0"/>
          </a:p>
        </p:txBody>
      </p:sp>
      <p:sp>
        <p:nvSpPr>
          <p:cNvPr id="5" name="Text 3"/>
          <p:cNvSpPr/>
          <p:nvPr/>
        </p:nvSpPr>
        <p:spPr>
          <a:xfrm>
            <a:off x="514350" y="2057400"/>
            <a:ext cx="3925062"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Comprehensive Event Capture</a:t>
            </a:r>
            <a:endParaRPr lang="en-US" sz="1200" dirty="0"/>
          </a:p>
        </p:txBody>
      </p:sp>
      <p:sp>
        <p:nvSpPr>
          <p:cNvPr id="6" name="Text 4"/>
          <p:cNvSpPr/>
          <p:nvPr/>
        </p:nvSpPr>
        <p:spPr>
          <a:xfrm>
            <a:off x="514350" y="2362200"/>
            <a:ext cx="3925062"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All LLM invocations, authentication events, Guardrail decisions, gateway operations, and system metrics logged to SIEM</a:t>
            </a:r>
            <a:endParaRPr lang="en-US" sz="1050" dirty="0"/>
          </a:p>
        </p:txBody>
      </p:sp>
      <p:sp>
        <p:nvSpPr>
          <p:cNvPr id="7" name="Text 5"/>
          <p:cNvSpPr/>
          <p:nvPr/>
        </p:nvSpPr>
        <p:spPr>
          <a:xfrm>
            <a:off x="381000" y="3028950"/>
            <a:ext cx="4114800" cy="1028700"/>
          </a:xfrm>
          <a:prstGeom prst="roundRect">
            <a:avLst>
              <a:gd name="adj" fmla="val 5556"/>
            </a:avLst>
          </a:prstGeom>
          <a:solidFill>
            <a:srgbClr val="0D9488"/>
          </a:solidFill>
          <a:ln/>
        </p:spPr>
        <p:txBody>
          <a:bodyPr wrap="square" rtlCol="0" anchor="ctr"/>
          <a:lstStyle/>
          <a:p>
            <a:pPr indent="0" marL="0">
              <a:buNone/>
            </a:pPr>
            <a:endParaRPr lang="en-US" dirty="0"/>
          </a:p>
        </p:txBody>
      </p:sp>
      <p:sp>
        <p:nvSpPr>
          <p:cNvPr id="8" name="Text 6"/>
          <p:cNvSpPr/>
          <p:nvPr/>
        </p:nvSpPr>
        <p:spPr>
          <a:xfrm>
            <a:off x="514350" y="3200400"/>
            <a:ext cx="3925062"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Data Storage</a:t>
            </a:r>
            <a:endParaRPr lang="en-US" sz="1200" dirty="0"/>
          </a:p>
        </p:txBody>
      </p:sp>
      <p:sp>
        <p:nvSpPr>
          <p:cNvPr id="9" name="Text 7"/>
          <p:cNvSpPr/>
          <p:nvPr/>
        </p:nvSpPr>
        <p:spPr>
          <a:xfrm>
            <a:off x="514350" y="3505200"/>
            <a:ext cx="3925062"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Prompts and responses stored in AIDome platform. All security events and operational logs sent to centralized SIEM system</a:t>
            </a:r>
            <a:endParaRPr lang="en-US" sz="1050" dirty="0"/>
          </a:p>
        </p:txBody>
      </p:sp>
      <p:sp>
        <p:nvSpPr>
          <p:cNvPr id="10" name="Text 8"/>
          <p:cNvSpPr/>
          <p:nvPr/>
        </p:nvSpPr>
        <p:spPr>
          <a:xfrm>
            <a:off x="4648200" y="1847850"/>
            <a:ext cx="4114800" cy="1066800"/>
          </a:xfrm>
          <a:prstGeom prst="roundRect">
            <a:avLst>
              <a:gd name="adj" fmla="val 5357"/>
            </a:avLst>
          </a:prstGeom>
          <a:solidFill>
            <a:srgbClr val="F3F4F6"/>
          </a:solidFill>
          <a:ln w="19050">
            <a:solidFill>
              <a:srgbClr val="F59E0B"/>
            </a:solidFill>
          </a:ln>
        </p:spPr>
        <p:txBody>
          <a:bodyPr wrap="square" rtlCol="0" anchor="ctr"/>
          <a:lstStyle/>
          <a:p>
            <a:pPr indent="0" marL="0">
              <a:buNone/>
            </a:pPr>
            <a:endParaRPr lang="en-US" dirty="0"/>
          </a:p>
        </p:txBody>
      </p:sp>
      <p:sp>
        <p:nvSpPr>
          <p:cNvPr id="11" name="Text 9"/>
          <p:cNvSpPr/>
          <p:nvPr/>
        </p:nvSpPr>
        <p:spPr>
          <a:xfrm>
            <a:off x="4800600" y="2038350"/>
            <a:ext cx="3886200"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1E3A8A"/>
                </a:solidFill>
                <a:latin typeface="Arial" pitchFamily="34" charset="0"/>
                <a:ea typeface="Arial" pitchFamily="34" charset="-122"/>
                <a:cs typeface="Arial" pitchFamily="34" charset="-120"/>
              </a:rPr>
              <a:t>Anomaly Detection</a:t>
            </a:r>
            <a:endParaRPr lang="en-US" sz="1200" dirty="0"/>
          </a:p>
        </p:txBody>
      </p:sp>
      <p:sp>
        <p:nvSpPr>
          <p:cNvPr id="12" name="Text 10"/>
          <p:cNvSpPr/>
          <p:nvPr/>
        </p:nvSpPr>
        <p:spPr>
          <a:xfrm>
            <a:off x="4800600" y="2343150"/>
            <a:ext cx="3886200"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Behavioral analysis, volume monitoring, failed validation tracking, and automated alerting for suspicious activities</a:t>
            </a:r>
            <a:endParaRPr lang="en-US" sz="1050" dirty="0"/>
          </a:p>
        </p:txBody>
      </p:sp>
      <p:sp>
        <p:nvSpPr>
          <p:cNvPr id="13" name="Text 11"/>
          <p:cNvSpPr/>
          <p:nvPr/>
        </p:nvSpPr>
        <p:spPr>
          <a:xfrm>
            <a:off x="4648200" y="3028950"/>
            <a:ext cx="4114800" cy="1066800"/>
          </a:xfrm>
          <a:prstGeom prst="roundRect">
            <a:avLst>
              <a:gd name="adj" fmla="val 5357"/>
            </a:avLst>
          </a:prstGeom>
          <a:solidFill>
            <a:srgbClr val="F3F4F6"/>
          </a:solidFill>
          <a:ln w="19050">
            <a:solidFill>
              <a:srgbClr val="1E3A8A"/>
            </a:solidFill>
          </a:ln>
        </p:spPr>
        <p:txBody>
          <a:bodyPr wrap="square" rtlCol="0" anchor="ctr"/>
          <a:lstStyle/>
          <a:p>
            <a:pPr indent="0" marL="0">
              <a:buNone/>
            </a:pPr>
            <a:endParaRPr lang="en-US" dirty="0"/>
          </a:p>
        </p:txBody>
      </p:sp>
      <p:sp>
        <p:nvSpPr>
          <p:cNvPr id="14" name="Text 12"/>
          <p:cNvSpPr/>
          <p:nvPr/>
        </p:nvSpPr>
        <p:spPr>
          <a:xfrm>
            <a:off x="4800600" y="3219450"/>
            <a:ext cx="3886200"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1E3A8A"/>
                </a:solidFill>
                <a:latin typeface="Arial" pitchFamily="34" charset="0"/>
                <a:ea typeface="Arial" pitchFamily="34" charset="-122"/>
                <a:cs typeface="Arial" pitchFamily="34" charset="-120"/>
              </a:rPr>
              <a:t>Audit Capabilities</a:t>
            </a:r>
            <a:endParaRPr lang="en-US" sz="1200" dirty="0"/>
          </a:p>
        </p:txBody>
      </p:sp>
      <p:sp>
        <p:nvSpPr>
          <p:cNvPr id="15" name="Text 13"/>
          <p:cNvSpPr/>
          <p:nvPr/>
        </p:nvSpPr>
        <p:spPr>
          <a:xfrm>
            <a:off x="4800600" y="3524250"/>
            <a:ext cx="3886200"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Full traceability of request lifecycle with user attribution, compliance reporting, and incident investigation support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1257300"/>
            <a:ext cx="4576001" cy="342900"/>
          </a:xfrm>
          <a:prstGeom prst="rect">
            <a:avLst/>
          </a:prstGeom>
          <a:noFill/>
          <a:ln/>
        </p:spPr>
        <p:txBody>
          <a:bodyPr wrap="square" lIns="0" tIns="0" rIns="0" bIns="0" rtlCol="0" anchor="t"/>
          <a:lstStyle/>
          <a:p>
            <a:pPr algn="l" indent="0" marL="0">
              <a:lnSpc>
                <a:spcPts val="2700"/>
              </a:lnSpc>
              <a:buNone/>
            </a:pPr>
            <a:r>
              <a:rPr lang="en-US" sz="2250" b="1" dirty="0">
                <a:solidFill>
                  <a:srgbClr val="1E3A8A"/>
                </a:solidFill>
                <a:latin typeface="Arial" pitchFamily="34" charset="0"/>
                <a:ea typeface="Arial" pitchFamily="34" charset="-122"/>
                <a:cs typeface="Arial" pitchFamily="34" charset="-120"/>
              </a:rPr>
              <a:t>Cost Management &amp; Governance</a:t>
            </a:r>
            <a:endParaRPr lang="en-US" sz="2250" dirty="0"/>
          </a:p>
        </p:txBody>
      </p:sp>
      <p:sp>
        <p:nvSpPr>
          <p:cNvPr id="4" name="Text 2"/>
          <p:cNvSpPr/>
          <p:nvPr/>
        </p:nvSpPr>
        <p:spPr>
          <a:xfrm>
            <a:off x="381000" y="1866900"/>
            <a:ext cx="4114800" cy="1028700"/>
          </a:xfrm>
          <a:prstGeom prst="roundRect">
            <a:avLst>
              <a:gd name="adj" fmla="val 5556"/>
            </a:avLst>
          </a:prstGeom>
          <a:solidFill>
            <a:srgbClr val="1E3A8A"/>
          </a:solidFill>
          <a:ln/>
        </p:spPr>
        <p:txBody>
          <a:bodyPr wrap="square" rtlCol="0" anchor="ctr"/>
          <a:lstStyle/>
          <a:p>
            <a:pPr indent="0" marL="0">
              <a:buNone/>
            </a:pPr>
            <a:endParaRPr lang="en-US" dirty="0"/>
          </a:p>
        </p:txBody>
      </p:sp>
      <p:sp>
        <p:nvSpPr>
          <p:cNvPr id="5" name="Text 3"/>
          <p:cNvSpPr/>
          <p:nvPr/>
        </p:nvSpPr>
        <p:spPr>
          <a:xfrm>
            <a:off x="514350" y="2038350"/>
            <a:ext cx="3925062"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Chargeback &amp; Allocation</a:t>
            </a:r>
            <a:endParaRPr lang="en-US" sz="1200" dirty="0"/>
          </a:p>
        </p:txBody>
      </p:sp>
      <p:sp>
        <p:nvSpPr>
          <p:cNvPr id="6" name="Text 4"/>
          <p:cNvSpPr/>
          <p:nvPr/>
        </p:nvSpPr>
        <p:spPr>
          <a:xfrm>
            <a:off x="514350" y="2343150"/>
            <a:ext cx="3925062"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All AWS resources and invocation calls tagged by application, business unit, and cost center for accurate financial allocation</a:t>
            </a:r>
            <a:endParaRPr lang="en-US" sz="1050" dirty="0"/>
          </a:p>
        </p:txBody>
      </p:sp>
      <p:sp>
        <p:nvSpPr>
          <p:cNvPr id="7" name="Text 5"/>
          <p:cNvSpPr/>
          <p:nvPr/>
        </p:nvSpPr>
        <p:spPr>
          <a:xfrm>
            <a:off x="381000" y="3009900"/>
            <a:ext cx="4114800" cy="1066800"/>
          </a:xfrm>
          <a:prstGeom prst="roundRect">
            <a:avLst>
              <a:gd name="adj" fmla="val 5357"/>
            </a:avLst>
          </a:prstGeom>
          <a:solidFill>
            <a:srgbClr val="F3F4F6"/>
          </a:solidFill>
          <a:ln w="19050">
            <a:solidFill>
              <a:srgbClr val="0D9488"/>
            </a:solidFill>
          </a:ln>
        </p:spPr>
        <p:txBody>
          <a:bodyPr wrap="square" rtlCol="0" anchor="ctr"/>
          <a:lstStyle/>
          <a:p>
            <a:pPr indent="0" marL="0">
              <a:buNone/>
            </a:pPr>
            <a:endParaRPr lang="en-US" dirty="0"/>
          </a:p>
        </p:txBody>
      </p:sp>
      <p:sp>
        <p:nvSpPr>
          <p:cNvPr id="8" name="Text 6"/>
          <p:cNvSpPr/>
          <p:nvPr/>
        </p:nvSpPr>
        <p:spPr>
          <a:xfrm>
            <a:off x="533400" y="3200400"/>
            <a:ext cx="3886200"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0D9488"/>
                </a:solidFill>
                <a:latin typeface="Arial" pitchFamily="34" charset="0"/>
                <a:ea typeface="Arial" pitchFamily="34" charset="-122"/>
                <a:cs typeface="Arial" pitchFamily="34" charset="-120"/>
              </a:rPr>
              <a:t>Cost Optimization</a:t>
            </a:r>
            <a:endParaRPr lang="en-US" sz="1200" dirty="0"/>
          </a:p>
        </p:txBody>
      </p:sp>
      <p:sp>
        <p:nvSpPr>
          <p:cNvPr id="9" name="Text 7"/>
          <p:cNvSpPr/>
          <p:nvPr/>
        </p:nvSpPr>
        <p:spPr>
          <a:xfrm>
            <a:off x="533400" y="3505200"/>
            <a:ext cx="3886200"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Token limiting, rate controls, TSP model selection, usage analytics, and anomaly detection prevent runaway costs</a:t>
            </a:r>
            <a:endParaRPr lang="en-US" sz="1050" dirty="0"/>
          </a:p>
        </p:txBody>
      </p:sp>
      <p:sp>
        <p:nvSpPr>
          <p:cNvPr id="10" name="Text 8"/>
          <p:cNvSpPr/>
          <p:nvPr/>
        </p:nvSpPr>
        <p:spPr>
          <a:xfrm>
            <a:off x="4648200" y="1885950"/>
            <a:ext cx="4114800" cy="1028700"/>
          </a:xfrm>
          <a:prstGeom prst="roundRect">
            <a:avLst>
              <a:gd name="adj" fmla="val 5556"/>
            </a:avLst>
          </a:prstGeom>
          <a:solidFill>
            <a:srgbClr val="0D9488"/>
          </a:solidFill>
          <a:ln/>
        </p:spPr>
        <p:txBody>
          <a:bodyPr wrap="square" rtlCol="0" anchor="ctr"/>
          <a:lstStyle/>
          <a:p>
            <a:pPr indent="0" marL="0">
              <a:buNone/>
            </a:pPr>
            <a:endParaRPr lang="en-US" dirty="0"/>
          </a:p>
        </p:txBody>
      </p:sp>
      <p:sp>
        <p:nvSpPr>
          <p:cNvPr id="11" name="Text 9"/>
          <p:cNvSpPr/>
          <p:nvPr/>
        </p:nvSpPr>
        <p:spPr>
          <a:xfrm>
            <a:off x="4781550" y="2057400"/>
            <a:ext cx="3925062"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Budget Controls</a:t>
            </a:r>
            <a:endParaRPr lang="en-US" sz="1200" dirty="0"/>
          </a:p>
        </p:txBody>
      </p:sp>
      <p:sp>
        <p:nvSpPr>
          <p:cNvPr id="12" name="Text 10"/>
          <p:cNvSpPr/>
          <p:nvPr/>
        </p:nvSpPr>
        <p:spPr>
          <a:xfrm>
            <a:off x="4781550" y="2362200"/>
            <a:ext cx="3925062"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Gateway capability available, planned implementation for research environments to enable controlled experimentation</a:t>
            </a:r>
            <a:endParaRPr lang="en-US" sz="1050" dirty="0"/>
          </a:p>
        </p:txBody>
      </p:sp>
      <p:sp>
        <p:nvSpPr>
          <p:cNvPr id="13" name="Text 11"/>
          <p:cNvSpPr/>
          <p:nvPr/>
        </p:nvSpPr>
        <p:spPr>
          <a:xfrm>
            <a:off x="4648200" y="3028950"/>
            <a:ext cx="4114800" cy="1028700"/>
          </a:xfrm>
          <a:prstGeom prst="roundRect">
            <a:avLst>
              <a:gd name="adj" fmla="val 5556"/>
            </a:avLst>
          </a:prstGeom>
          <a:solidFill>
            <a:srgbClr val="F59E0B"/>
          </a:solidFill>
          <a:ln/>
        </p:spPr>
        <p:txBody>
          <a:bodyPr wrap="square" rtlCol="0" anchor="ctr"/>
          <a:lstStyle/>
          <a:p>
            <a:pPr indent="0" marL="0">
              <a:buNone/>
            </a:pPr>
            <a:endParaRPr lang="en-US" dirty="0"/>
          </a:p>
        </p:txBody>
      </p:sp>
      <p:sp>
        <p:nvSpPr>
          <p:cNvPr id="14" name="Text 12"/>
          <p:cNvSpPr/>
          <p:nvPr/>
        </p:nvSpPr>
        <p:spPr>
          <a:xfrm>
            <a:off x="4781550" y="3200400"/>
            <a:ext cx="3925062"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1F2937"/>
                </a:solidFill>
                <a:latin typeface="Arial" pitchFamily="34" charset="0"/>
                <a:ea typeface="Arial" pitchFamily="34" charset="-122"/>
                <a:cs typeface="Arial" pitchFamily="34" charset="-120"/>
              </a:rPr>
              <a:t>Financial Governance</a:t>
            </a:r>
            <a:endParaRPr lang="en-US" sz="1200" dirty="0"/>
          </a:p>
        </p:txBody>
      </p:sp>
      <p:sp>
        <p:nvSpPr>
          <p:cNvPr id="15" name="Text 13"/>
          <p:cNvSpPr/>
          <p:nvPr/>
        </p:nvSpPr>
        <p:spPr>
          <a:xfrm>
            <a:off x="4781550" y="3505200"/>
            <a:ext cx="3925062"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Tag-based allocation enables accountability and informed budgeting across all business units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933450"/>
            <a:ext cx="4478845" cy="342900"/>
          </a:xfrm>
          <a:prstGeom prst="rect">
            <a:avLst/>
          </a:prstGeom>
          <a:noFill/>
          <a:ln/>
        </p:spPr>
        <p:txBody>
          <a:bodyPr wrap="square" lIns="0" tIns="0" rIns="0" bIns="0" rtlCol="0" anchor="t"/>
          <a:lstStyle/>
          <a:p>
            <a:pPr algn="l" indent="0" marL="0">
              <a:lnSpc>
                <a:spcPts val="2700"/>
              </a:lnSpc>
              <a:buNone/>
            </a:pPr>
            <a:r>
              <a:rPr lang="en-US" sz="2250" b="1" dirty="0">
                <a:solidFill>
                  <a:srgbClr val="1E3A8A"/>
                </a:solidFill>
                <a:latin typeface="Arial" pitchFamily="34" charset="0"/>
                <a:ea typeface="Arial" pitchFamily="34" charset="-122"/>
                <a:cs typeface="Arial" pitchFamily="34" charset="-120"/>
              </a:rPr>
              <a:t>Compliance &amp; Data Privacy</a:t>
            </a:r>
            <a:endParaRPr lang="en-US" sz="2250" dirty="0"/>
          </a:p>
        </p:txBody>
      </p:sp>
      <p:sp>
        <p:nvSpPr>
          <p:cNvPr id="4" name="Text 2"/>
          <p:cNvSpPr/>
          <p:nvPr/>
        </p:nvSpPr>
        <p:spPr>
          <a:xfrm>
            <a:off x="381000" y="1543050"/>
            <a:ext cx="8382000" cy="1066800"/>
          </a:xfrm>
          <a:prstGeom prst="roundRect">
            <a:avLst>
              <a:gd name="adj" fmla="val 5357"/>
            </a:avLst>
          </a:prstGeom>
          <a:solidFill>
            <a:srgbClr val="1E3A8A"/>
          </a:solidFill>
          <a:ln/>
        </p:spPr>
        <p:txBody>
          <a:bodyPr wrap="square" rtlCol="0" anchor="ctr"/>
          <a:lstStyle/>
          <a:p>
            <a:pPr indent="0" marL="0">
              <a:buNone/>
            </a:pPr>
            <a:endParaRPr lang="en-US" dirty="0"/>
          </a:p>
        </p:txBody>
      </p:sp>
      <p:sp>
        <p:nvSpPr>
          <p:cNvPr id="5" name="Text 3"/>
          <p:cNvSpPr/>
          <p:nvPr/>
        </p:nvSpPr>
        <p:spPr>
          <a:xfrm>
            <a:off x="514350" y="1714500"/>
            <a:ext cx="8277606" cy="266700"/>
          </a:xfrm>
          <a:prstGeom prst="rect">
            <a:avLst/>
          </a:prstGeom>
          <a:noFill/>
          <a:ln/>
        </p:spPr>
        <p:txBody>
          <a:bodyPr wrap="square" lIns="0" tIns="0" rIns="0" bIns="0" rtlCol="0" anchor="t"/>
          <a:lstStyle/>
          <a:p>
            <a:pPr algn="l" indent="0" marL="0">
              <a:lnSpc>
                <a:spcPts val="2100"/>
              </a:lnSpc>
              <a:spcBef>
                <a:spcPts val="300"/>
              </a:spcBef>
              <a:spcAft>
                <a:spcPts val="600"/>
              </a:spcAft>
              <a:buNone/>
            </a:pPr>
            <a:r>
              <a:rPr lang="en-US" sz="1350" b="1" dirty="0">
                <a:solidFill>
                  <a:srgbClr val="FFFFFF"/>
                </a:solidFill>
                <a:latin typeface="Arial" pitchFamily="34" charset="0"/>
                <a:ea typeface="Arial" pitchFamily="34" charset="-122"/>
                <a:cs typeface="Arial" pitchFamily="34" charset="-120"/>
              </a:rPr>
              <a:t>Enterprise Governance Integration</a:t>
            </a:r>
            <a:endParaRPr lang="en-US" sz="1350" dirty="0"/>
          </a:p>
        </p:txBody>
      </p:sp>
      <p:sp>
        <p:nvSpPr>
          <p:cNvPr id="6" name="Text 4"/>
          <p:cNvSpPr/>
          <p:nvPr/>
        </p:nvSpPr>
        <p:spPr>
          <a:xfrm>
            <a:off x="514350" y="2057400"/>
            <a:ext cx="827760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All AI applications must comply with existing enterprise governance policies. No exceptions - policies applied uniformly across all GenAI use cases with mandatory adherence</a:t>
            </a:r>
            <a:endParaRPr lang="en-US" sz="1050" dirty="0"/>
          </a:p>
        </p:txBody>
      </p:sp>
      <p:sp>
        <p:nvSpPr>
          <p:cNvPr id="7" name="Text 5"/>
          <p:cNvSpPr/>
          <p:nvPr/>
        </p:nvSpPr>
        <p:spPr>
          <a:xfrm>
            <a:off x="381000" y="2724150"/>
            <a:ext cx="4114800" cy="1066800"/>
          </a:xfrm>
          <a:prstGeom prst="roundRect">
            <a:avLst>
              <a:gd name="adj" fmla="val 5357"/>
            </a:avLst>
          </a:prstGeom>
          <a:solidFill>
            <a:srgbClr val="F3F4F6"/>
          </a:solidFill>
          <a:ln w="19050">
            <a:solidFill>
              <a:srgbClr val="1E3A8A"/>
            </a:solidFill>
          </a:ln>
        </p:spPr>
        <p:txBody>
          <a:bodyPr wrap="square" rtlCol="0" anchor="ctr"/>
          <a:lstStyle/>
          <a:p>
            <a:pPr indent="0" marL="0">
              <a:buNone/>
            </a:pPr>
            <a:endParaRPr lang="en-US" dirty="0"/>
          </a:p>
        </p:txBody>
      </p:sp>
      <p:sp>
        <p:nvSpPr>
          <p:cNvPr id="8" name="Text 6"/>
          <p:cNvSpPr/>
          <p:nvPr/>
        </p:nvSpPr>
        <p:spPr>
          <a:xfrm>
            <a:off x="533400" y="2914650"/>
            <a:ext cx="3886200"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1E3A8A"/>
                </a:solidFill>
                <a:latin typeface="Arial" pitchFamily="34" charset="0"/>
                <a:ea typeface="Arial" pitchFamily="34" charset="-122"/>
                <a:cs typeface="Arial" pitchFamily="34" charset="-120"/>
              </a:rPr>
              <a:t>Data Protection</a:t>
            </a:r>
            <a:endParaRPr lang="en-US" sz="1200" dirty="0"/>
          </a:p>
        </p:txBody>
      </p:sp>
      <p:sp>
        <p:nvSpPr>
          <p:cNvPr id="9" name="Text 7"/>
          <p:cNvSpPr/>
          <p:nvPr/>
        </p:nvSpPr>
        <p:spPr>
          <a:xfrm>
            <a:off x="533400" y="3219450"/>
            <a:ext cx="3886200"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PII detection, retention policies, secure storage in AIDome, and RBAC access controls following least-privilege principle</a:t>
            </a:r>
            <a:endParaRPr lang="en-US" sz="1050" dirty="0"/>
          </a:p>
        </p:txBody>
      </p:sp>
      <p:sp>
        <p:nvSpPr>
          <p:cNvPr id="10" name="Text 8"/>
          <p:cNvSpPr/>
          <p:nvPr/>
        </p:nvSpPr>
        <p:spPr>
          <a:xfrm>
            <a:off x="4648200" y="2724150"/>
            <a:ext cx="4114800" cy="1066800"/>
          </a:xfrm>
          <a:prstGeom prst="roundRect">
            <a:avLst>
              <a:gd name="adj" fmla="val 5357"/>
            </a:avLst>
          </a:prstGeom>
          <a:solidFill>
            <a:srgbClr val="F3F4F6"/>
          </a:solidFill>
          <a:ln w="19050">
            <a:solidFill>
              <a:srgbClr val="0D9488"/>
            </a:solidFill>
          </a:ln>
        </p:spPr>
        <p:txBody>
          <a:bodyPr wrap="square" rtlCol="0" anchor="ctr"/>
          <a:lstStyle/>
          <a:p>
            <a:pPr indent="0" marL="0">
              <a:buNone/>
            </a:pPr>
            <a:endParaRPr lang="en-US" dirty="0"/>
          </a:p>
        </p:txBody>
      </p:sp>
      <p:sp>
        <p:nvSpPr>
          <p:cNvPr id="11" name="Text 9"/>
          <p:cNvSpPr/>
          <p:nvPr/>
        </p:nvSpPr>
        <p:spPr>
          <a:xfrm>
            <a:off x="4800600" y="2914650"/>
            <a:ext cx="3886200"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0D9488"/>
                </a:solidFill>
                <a:latin typeface="Arial" pitchFamily="34" charset="0"/>
                <a:ea typeface="Arial" pitchFamily="34" charset="-122"/>
                <a:cs typeface="Arial" pitchFamily="34" charset="-120"/>
              </a:rPr>
              <a:t>Audit &amp; Compliance</a:t>
            </a:r>
            <a:endParaRPr lang="en-US" sz="1200" dirty="0"/>
          </a:p>
        </p:txBody>
      </p:sp>
      <p:sp>
        <p:nvSpPr>
          <p:cNvPr id="12" name="Text 10"/>
          <p:cNvSpPr/>
          <p:nvPr/>
        </p:nvSpPr>
        <p:spPr>
          <a:xfrm>
            <a:off x="4800600" y="3219450"/>
            <a:ext cx="3886200"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Complete audit trail to SIEM, user attribution, regulatory alignment, and documented Guardrail enforcement</a:t>
            </a:r>
            <a:endParaRPr lang="en-US" sz="1050" dirty="0"/>
          </a:p>
        </p:txBody>
      </p:sp>
      <p:sp>
        <p:nvSpPr>
          <p:cNvPr id="13" name="Text 11"/>
          <p:cNvSpPr/>
          <p:nvPr/>
        </p:nvSpPr>
        <p:spPr>
          <a:xfrm>
            <a:off x="381000" y="3905250"/>
            <a:ext cx="8382000" cy="495300"/>
          </a:xfrm>
          <a:prstGeom prst="roundRect">
            <a:avLst>
              <a:gd name="adj" fmla="val 11538"/>
            </a:avLst>
          </a:prstGeom>
          <a:solidFill>
            <a:srgbClr val="0D9488"/>
          </a:solidFill>
          <a:ln/>
        </p:spPr>
        <p:txBody>
          <a:bodyPr wrap="square" rtlCol="0" anchor="ctr"/>
          <a:lstStyle/>
          <a:p>
            <a:pPr indent="0" marL="0">
              <a:buNone/>
            </a:pPr>
            <a:endParaRPr lang="en-US" dirty="0"/>
          </a:p>
        </p:txBody>
      </p:sp>
      <p:sp>
        <p:nvSpPr>
          <p:cNvPr id="14" name="Text 12"/>
          <p:cNvSpPr/>
          <p:nvPr/>
        </p:nvSpPr>
        <p:spPr>
          <a:xfrm>
            <a:off x="495300" y="4057650"/>
            <a:ext cx="8316468"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AWS Bedrock Compliance: Leveraging SOC 2, ISO, and HIPAA-eligible certifications as foundation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971550"/>
            <a:ext cx="4478845" cy="342900"/>
          </a:xfrm>
          <a:prstGeom prst="rect">
            <a:avLst/>
          </a:prstGeom>
          <a:noFill/>
          <a:ln/>
        </p:spPr>
        <p:txBody>
          <a:bodyPr wrap="square" lIns="0" tIns="0" rIns="0" bIns="0" rtlCol="0" anchor="t"/>
          <a:lstStyle/>
          <a:p>
            <a:pPr algn="l" indent="0" marL="0">
              <a:lnSpc>
                <a:spcPts val="2700"/>
              </a:lnSpc>
              <a:buNone/>
            </a:pPr>
            <a:r>
              <a:rPr lang="en-US" sz="2250" b="1" dirty="0">
                <a:solidFill>
                  <a:srgbClr val="1E3A8A"/>
                </a:solidFill>
                <a:latin typeface="Arial" pitchFamily="34" charset="0"/>
                <a:ea typeface="Arial" pitchFamily="34" charset="-122"/>
                <a:cs typeface="Arial" pitchFamily="34" charset="-120"/>
              </a:rPr>
              <a:t>High Availability &amp; Resilience</a:t>
            </a:r>
            <a:endParaRPr lang="en-US" sz="2250" dirty="0"/>
          </a:p>
        </p:txBody>
      </p:sp>
      <p:sp>
        <p:nvSpPr>
          <p:cNvPr id="4" name="Text 2"/>
          <p:cNvSpPr/>
          <p:nvPr/>
        </p:nvSpPr>
        <p:spPr>
          <a:xfrm>
            <a:off x="381000" y="1581150"/>
            <a:ext cx="8382000" cy="1028700"/>
          </a:xfrm>
          <a:prstGeom prst="roundRect">
            <a:avLst>
              <a:gd name="adj" fmla="val 5556"/>
            </a:avLst>
          </a:prstGeom>
          <a:solidFill>
            <a:srgbClr val="1E3A8A"/>
          </a:solidFill>
          <a:ln/>
        </p:spPr>
        <p:txBody>
          <a:bodyPr wrap="square" rtlCol="0" anchor="ctr"/>
          <a:lstStyle/>
          <a:p>
            <a:pPr indent="0" marL="0">
              <a:buNone/>
            </a:pPr>
            <a:endParaRPr lang="en-US" dirty="0"/>
          </a:p>
        </p:txBody>
      </p:sp>
      <p:sp>
        <p:nvSpPr>
          <p:cNvPr id="5" name="Text 3"/>
          <p:cNvSpPr/>
          <p:nvPr/>
        </p:nvSpPr>
        <p:spPr>
          <a:xfrm>
            <a:off x="514350" y="1752600"/>
            <a:ext cx="8277606"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Current HA Architecture</a:t>
            </a:r>
            <a:endParaRPr lang="en-US" sz="1200" dirty="0"/>
          </a:p>
        </p:txBody>
      </p:sp>
      <p:sp>
        <p:nvSpPr>
          <p:cNvPr id="6" name="Text 4"/>
          <p:cNvSpPr/>
          <p:nvPr/>
        </p:nvSpPr>
        <p:spPr>
          <a:xfrm>
            <a:off x="514350" y="2057400"/>
            <a:ext cx="827760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LLM Gateway on EKS with multi-AZ replicas, AWS Bedrock managed service with regional redundancy, model versioning for rollback, and stateless design for seamless failover</a:t>
            </a:r>
            <a:endParaRPr lang="en-US" sz="1050" dirty="0"/>
          </a:p>
        </p:txBody>
      </p:sp>
      <p:sp>
        <p:nvSpPr>
          <p:cNvPr id="7" name="Text 5"/>
          <p:cNvSpPr/>
          <p:nvPr/>
        </p:nvSpPr>
        <p:spPr>
          <a:xfrm>
            <a:off x="381000" y="2724150"/>
            <a:ext cx="4114800" cy="1028700"/>
          </a:xfrm>
          <a:prstGeom prst="roundRect">
            <a:avLst>
              <a:gd name="adj" fmla="val 5556"/>
            </a:avLst>
          </a:prstGeom>
          <a:solidFill>
            <a:srgbClr val="0D9488"/>
          </a:solidFill>
          <a:ln/>
        </p:spPr>
        <p:txBody>
          <a:bodyPr wrap="square" rtlCol="0" anchor="ctr"/>
          <a:lstStyle/>
          <a:p>
            <a:pPr indent="0" marL="0">
              <a:buNone/>
            </a:pPr>
            <a:endParaRPr lang="en-US" dirty="0"/>
          </a:p>
        </p:txBody>
      </p:sp>
      <p:sp>
        <p:nvSpPr>
          <p:cNvPr id="8" name="Text 6"/>
          <p:cNvSpPr/>
          <p:nvPr/>
        </p:nvSpPr>
        <p:spPr>
          <a:xfrm>
            <a:off x="514350" y="2895600"/>
            <a:ext cx="3925062"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Failover Mechanisms</a:t>
            </a:r>
            <a:endParaRPr lang="en-US" sz="1200" dirty="0"/>
          </a:p>
        </p:txBody>
      </p:sp>
      <p:sp>
        <p:nvSpPr>
          <p:cNvPr id="9" name="Text 7"/>
          <p:cNvSpPr/>
          <p:nvPr/>
        </p:nvSpPr>
        <p:spPr>
          <a:xfrm>
            <a:off x="514350" y="3200400"/>
            <a:ext cx="3925062"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Cross-Region Inference via AWS Bedrock, gateway redundancy with health checks, and automated failover triggers</a:t>
            </a:r>
            <a:endParaRPr lang="en-US" sz="1050" dirty="0"/>
          </a:p>
        </p:txBody>
      </p:sp>
      <p:sp>
        <p:nvSpPr>
          <p:cNvPr id="10" name="Text 8"/>
          <p:cNvSpPr/>
          <p:nvPr/>
        </p:nvSpPr>
        <p:spPr>
          <a:xfrm>
            <a:off x="4648200" y="2724150"/>
            <a:ext cx="4114800" cy="1028700"/>
          </a:xfrm>
          <a:prstGeom prst="roundRect">
            <a:avLst>
              <a:gd name="adj" fmla="val 5556"/>
            </a:avLst>
          </a:prstGeom>
          <a:solidFill>
            <a:srgbClr val="0D9488"/>
          </a:solidFill>
          <a:ln/>
        </p:spPr>
        <p:txBody>
          <a:bodyPr wrap="square" rtlCol="0" anchor="ctr"/>
          <a:lstStyle/>
          <a:p>
            <a:pPr indent="0" marL="0">
              <a:buNone/>
            </a:pPr>
            <a:endParaRPr lang="en-US" dirty="0"/>
          </a:p>
        </p:txBody>
      </p:sp>
      <p:sp>
        <p:nvSpPr>
          <p:cNvPr id="11" name="Text 9"/>
          <p:cNvSpPr/>
          <p:nvPr/>
        </p:nvSpPr>
        <p:spPr>
          <a:xfrm>
            <a:off x="4781550" y="2895600"/>
            <a:ext cx="3925062"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Recovery Capabilities</a:t>
            </a:r>
            <a:endParaRPr lang="en-US" sz="1200" dirty="0"/>
          </a:p>
        </p:txBody>
      </p:sp>
      <p:sp>
        <p:nvSpPr>
          <p:cNvPr id="12" name="Text 10"/>
          <p:cNvSpPr/>
          <p:nvPr/>
        </p:nvSpPr>
        <p:spPr>
          <a:xfrm>
            <a:off x="4781550" y="3200400"/>
            <a:ext cx="3925062"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Graceful degradation, circuit breakers for failing components, and intelligent retry logic</a:t>
            </a:r>
            <a:endParaRPr lang="en-US" sz="1050" dirty="0"/>
          </a:p>
        </p:txBody>
      </p:sp>
      <p:sp>
        <p:nvSpPr>
          <p:cNvPr id="13" name="Text 11"/>
          <p:cNvSpPr/>
          <p:nvPr/>
        </p:nvSpPr>
        <p:spPr>
          <a:xfrm>
            <a:off x="381000" y="3867150"/>
            <a:ext cx="8382000" cy="495300"/>
          </a:xfrm>
          <a:prstGeom prst="roundRect">
            <a:avLst>
              <a:gd name="adj" fmla="val 11538"/>
            </a:avLst>
          </a:prstGeom>
          <a:solidFill>
            <a:srgbClr val="F59E0B"/>
          </a:solidFill>
          <a:ln/>
        </p:spPr>
        <p:txBody>
          <a:bodyPr wrap="square" rtlCol="0" anchor="ctr"/>
          <a:lstStyle/>
          <a:p>
            <a:pPr indent="0" marL="0">
              <a:buNone/>
            </a:pPr>
            <a:endParaRPr lang="en-US" dirty="0"/>
          </a:p>
        </p:txBody>
      </p:sp>
      <p:sp>
        <p:nvSpPr>
          <p:cNvPr id="14" name="Text 12"/>
          <p:cNvSpPr/>
          <p:nvPr/>
        </p:nvSpPr>
        <p:spPr>
          <a:xfrm>
            <a:off x="495300" y="4019550"/>
            <a:ext cx="8316468"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Future: Multi-Provider Strategy - Adding Anthropic alongside AWS Bedrock for provider diversity and additional resilience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1343025"/>
            <a:ext cx="4478845" cy="342900"/>
          </a:xfrm>
          <a:prstGeom prst="rect">
            <a:avLst/>
          </a:prstGeom>
          <a:noFill/>
          <a:ln/>
        </p:spPr>
        <p:txBody>
          <a:bodyPr wrap="square" lIns="0" tIns="0" rIns="0" bIns="0" rtlCol="0" anchor="t"/>
          <a:lstStyle/>
          <a:p>
            <a:pPr algn="l" indent="0" marL="0">
              <a:lnSpc>
                <a:spcPts val="2700"/>
              </a:lnSpc>
              <a:buNone/>
            </a:pPr>
            <a:r>
              <a:rPr lang="en-US" sz="2250" b="1" dirty="0">
                <a:solidFill>
                  <a:srgbClr val="1E3A8A"/>
                </a:solidFill>
                <a:latin typeface="Arial" pitchFamily="34" charset="0"/>
                <a:ea typeface="Arial" pitchFamily="34" charset="-122"/>
                <a:cs typeface="Arial" pitchFamily="34" charset="-120"/>
              </a:rPr>
              <a:t>Current State &amp; Capabilities</a:t>
            </a:r>
            <a:endParaRPr lang="en-US" sz="2250" dirty="0"/>
          </a:p>
        </p:txBody>
      </p:sp>
      <p:sp>
        <p:nvSpPr>
          <p:cNvPr id="4" name="Text 2"/>
          <p:cNvSpPr/>
          <p:nvPr/>
        </p:nvSpPr>
        <p:spPr>
          <a:xfrm>
            <a:off x="381000" y="1952625"/>
            <a:ext cx="4114800" cy="1257300"/>
          </a:xfrm>
          <a:prstGeom prst="roundRect">
            <a:avLst>
              <a:gd name="adj" fmla="val 4545"/>
            </a:avLst>
          </a:prstGeom>
          <a:solidFill>
            <a:srgbClr val="1E3A8A"/>
          </a:solidFill>
          <a:ln/>
        </p:spPr>
        <p:txBody>
          <a:bodyPr wrap="square" rtlCol="0" anchor="ctr"/>
          <a:lstStyle/>
          <a:p>
            <a:pPr indent="0" marL="0">
              <a:buNone/>
            </a:pPr>
            <a:endParaRPr lang="en-US" dirty="0"/>
          </a:p>
        </p:txBody>
      </p:sp>
      <p:sp>
        <p:nvSpPr>
          <p:cNvPr id="5" name="Text 3"/>
          <p:cNvSpPr/>
          <p:nvPr/>
        </p:nvSpPr>
        <p:spPr>
          <a:xfrm>
            <a:off x="514350" y="2124075"/>
            <a:ext cx="3925062"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Deployed &amp; Operational</a:t>
            </a:r>
            <a:endParaRPr lang="en-US" sz="1200" dirty="0"/>
          </a:p>
        </p:txBody>
      </p:sp>
      <p:sp>
        <p:nvSpPr>
          <p:cNvPr id="6" name="Text 4"/>
          <p:cNvSpPr/>
          <p:nvPr/>
        </p:nvSpPr>
        <p:spPr>
          <a:xfrm>
            <a:off x="514350" y="2428875"/>
            <a:ext cx="3925062" cy="609600"/>
          </a:xfrm>
          <a:prstGeom prst="rect">
            <a:avLst/>
          </a:prstGeom>
          <a:noFill/>
          <a:ln/>
        </p:spPr>
        <p:txBody>
          <a:bodyPr wrap="square" lIns="0" tIns="0" rIns="0" bIns="0" rtlCol="0" anchor="t"/>
          <a:lstStyle/>
          <a:p>
            <a:pPr algn="l" indent="0" marL="0">
              <a:lnSpc>
                <a:spcPts val="1200"/>
              </a:lnSpc>
              <a:spcBef>
                <a:spcPts val="300"/>
              </a:spcBef>
              <a:spcAft>
                <a:spcPts val="300"/>
              </a:spcAft>
              <a:buNone/>
            </a:pPr>
            <a:r>
              <a:rPr lang="en-US" sz="900" dirty="0">
                <a:solidFill>
                  <a:srgbClr val="FFFFFF"/>
                </a:solidFill>
                <a:latin typeface="Arial" pitchFamily="34" charset="0"/>
                <a:ea typeface="Arial" pitchFamily="34" charset="-122"/>
                <a:cs typeface="Arial" pitchFamily="34" charset="-120"/>
              </a:rPr>
              <a:t>TSP governance, AWS Bedrock, Portkey Gateway with HA, AIDome platform, Bedrock Guardrails, rate limiting and throttling, RBAC and session management, SIEM integration, anomaly detection, cost tagging, model versioning, Llumino evaluation, and basic AI agents</a:t>
            </a:r>
            <a:endParaRPr lang="en-US" sz="900" dirty="0"/>
          </a:p>
        </p:txBody>
      </p:sp>
      <p:sp>
        <p:nvSpPr>
          <p:cNvPr id="7" name="Text 5"/>
          <p:cNvSpPr/>
          <p:nvPr/>
        </p:nvSpPr>
        <p:spPr>
          <a:xfrm>
            <a:off x="381000" y="3305175"/>
            <a:ext cx="4114800" cy="685800"/>
          </a:xfrm>
          <a:prstGeom prst="roundRect">
            <a:avLst>
              <a:gd name="adj" fmla="val 8333"/>
            </a:avLst>
          </a:prstGeom>
          <a:solidFill>
            <a:srgbClr val="F59E0B"/>
          </a:solidFill>
          <a:ln/>
        </p:spPr>
        <p:txBody>
          <a:bodyPr wrap="square" rtlCol="0" anchor="ctr"/>
          <a:lstStyle/>
          <a:p>
            <a:pPr indent="0" marL="0">
              <a:buNone/>
            </a:pPr>
            <a:endParaRPr lang="en-US" dirty="0"/>
          </a:p>
        </p:txBody>
      </p:sp>
      <p:sp>
        <p:nvSpPr>
          <p:cNvPr id="8" name="Text 6"/>
          <p:cNvSpPr/>
          <p:nvPr/>
        </p:nvSpPr>
        <p:spPr>
          <a:xfrm>
            <a:off x="495300" y="3457575"/>
            <a:ext cx="3963924"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1F2937"/>
                </a:solidFill>
                <a:latin typeface="Arial" pitchFamily="34" charset="0"/>
                <a:ea typeface="Arial" pitchFamily="34" charset="-122"/>
                <a:cs typeface="Arial" pitchFamily="34" charset="-120"/>
              </a:rPr>
              <a:t>Strategic Position: Secure foundation model consumption via AWS Bedrock</a:t>
            </a:r>
            <a:endParaRPr lang="en-US" sz="1050" dirty="0"/>
          </a:p>
        </p:txBody>
      </p:sp>
      <p:sp>
        <p:nvSpPr>
          <p:cNvPr id="9" name="Text 7"/>
          <p:cNvSpPr/>
          <p:nvPr/>
        </p:nvSpPr>
        <p:spPr>
          <a:xfrm>
            <a:off x="4648200" y="2009775"/>
            <a:ext cx="4114800" cy="1143000"/>
          </a:xfrm>
          <a:prstGeom prst="roundRect">
            <a:avLst>
              <a:gd name="adj" fmla="val 5000"/>
            </a:avLst>
          </a:prstGeom>
          <a:solidFill>
            <a:srgbClr val="F3F4F6"/>
          </a:solidFill>
          <a:ln w="19050">
            <a:solidFill>
              <a:srgbClr val="6B7280"/>
            </a:solidFill>
          </a:ln>
        </p:spPr>
        <p:txBody>
          <a:bodyPr wrap="square" rtlCol="0" anchor="ctr"/>
          <a:lstStyle/>
          <a:p>
            <a:pPr indent="0" marL="0">
              <a:buNone/>
            </a:pPr>
            <a:endParaRPr lang="en-US" dirty="0"/>
          </a:p>
        </p:txBody>
      </p:sp>
      <p:sp>
        <p:nvSpPr>
          <p:cNvPr id="10" name="Text 8"/>
          <p:cNvSpPr/>
          <p:nvPr/>
        </p:nvSpPr>
        <p:spPr>
          <a:xfrm>
            <a:off x="4800600" y="2200275"/>
            <a:ext cx="3886200"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1E3A8A"/>
                </a:solidFill>
                <a:latin typeface="Arial" pitchFamily="34" charset="0"/>
                <a:ea typeface="Arial" pitchFamily="34" charset="-122"/>
                <a:cs typeface="Arial" pitchFamily="34" charset="-120"/>
              </a:rPr>
              <a:t>Not In Current Scope</a:t>
            </a:r>
            <a:endParaRPr lang="en-US" sz="1200" dirty="0"/>
          </a:p>
        </p:txBody>
      </p:sp>
      <p:sp>
        <p:nvSpPr>
          <p:cNvPr id="11" name="Text 9"/>
          <p:cNvSpPr/>
          <p:nvPr/>
        </p:nvSpPr>
        <p:spPr>
          <a:xfrm>
            <a:off x="4800600" y="2505075"/>
            <a:ext cx="3886200" cy="457200"/>
          </a:xfrm>
          <a:prstGeom prst="rect">
            <a:avLst/>
          </a:prstGeom>
          <a:noFill/>
          <a:ln/>
        </p:spPr>
        <p:txBody>
          <a:bodyPr wrap="square" lIns="0" tIns="0" rIns="0" bIns="0" rtlCol="0" anchor="t"/>
          <a:lstStyle/>
          <a:p>
            <a:pPr algn="l" indent="0" marL="0">
              <a:lnSpc>
                <a:spcPts val="1200"/>
              </a:lnSpc>
              <a:spcBef>
                <a:spcPts val="300"/>
              </a:spcBef>
              <a:spcAft>
                <a:spcPts val="300"/>
              </a:spcAft>
              <a:buNone/>
            </a:pPr>
            <a:r>
              <a:rPr lang="en-US" sz="900" dirty="0">
                <a:solidFill>
                  <a:srgbClr val="1F2937"/>
                </a:solidFill>
                <a:latin typeface="Arial" pitchFamily="34" charset="0"/>
                <a:ea typeface="Arial" pitchFamily="34" charset="-122"/>
                <a:cs typeface="Arial" pitchFamily="34" charset="-120"/>
              </a:rPr>
              <a:t>Agentic AI, Model Context Protocol, A2C and A2A interactions, custom model development, model fine-tuning, open-weight models, SLMs, research environment budget controls, and multi-provider failover</a:t>
            </a:r>
            <a:endParaRPr lang="en-US" sz="900" dirty="0"/>
          </a:p>
        </p:txBody>
      </p:sp>
      <p:sp>
        <p:nvSpPr>
          <p:cNvPr id="12" name="Text 10"/>
          <p:cNvSpPr/>
          <p:nvPr/>
        </p:nvSpPr>
        <p:spPr>
          <a:xfrm>
            <a:off x="4648200" y="3248025"/>
            <a:ext cx="4114800" cy="685800"/>
          </a:xfrm>
          <a:prstGeom prst="roundRect">
            <a:avLst>
              <a:gd name="adj" fmla="val 8333"/>
            </a:avLst>
          </a:prstGeom>
          <a:solidFill>
            <a:srgbClr val="0D9488"/>
          </a:solidFill>
          <a:ln/>
        </p:spPr>
        <p:txBody>
          <a:bodyPr wrap="square" rtlCol="0" anchor="ctr"/>
          <a:lstStyle/>
          <a:p>
            <a:pPr indent="0" marL="0">
              <a:buNone/>
            </a:pPr>
            <a:endParaRPr lang="en-US" dirty="0"/>
          </a:p>
        </p:txBody>
      </p:sp>
      <p:sp>
        <p:nvSpPr>
          <p:cNvPr id="13" name="Text 11"/>
          <p:cNvSpPr/>
          <p:nvPr/>
        </p:nvSpPr>
        <p:spPr>
          <a:xfrm>
            <a:off x="4762500" y="3400425"/>
            <a:ext cx="3963924"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Phased approach prioritizes security before advanced capabilities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514350"/>
            <a:ext cx="4478845" cy="342900"/>
          </a:xfrm>
          <a:prstGeom prst="rect">
            <a:avLst/>
          </a:prstGeom>
          <a:noFill/>
          <a:ln/>
        </p:spPr>
        <p:txBody>
          <a:bodyPr wrap="square" lIns="0" tIns="0" rIns="0" bIns="0" rtlCol="0" anchor="t"/>
          <a:lstStyle/>
          <a:p>
            <a:pPr algn="l" indent="0" marL="0">
              <a:lnSpc>
                <a:spcPts val="2700"/>
              </a:lnSpc>
              <a:buNone/>
            </a:pPr>
            <a:r>
              <a:rPr lang="en-US" sz="2250" b="1" dirty="0">
                <a:solidFill>
                  <a:srgbClr val="1E3A8A"/>
                </a:solidFill>
                <a:latin typeface="Arial" pitchFamily="34" charset="0"/>
                <a:ea typeface="Arial" pitchFamily="34" charset="-122"/>
                <a:cs typeface="Arial" pitchFamily="34" charset="-120"/>
              </a:rPr>
              <a:t>Future Roadmap</a:t>
            </a:r>
            <a:endParaRPr lang="en-US" sz="2250" dirty="0"/>
          </a:p>
        </p:txBody>
      </p:sp>
      <p:sp>
        <p:nvSpPr>
          <p:cNvPr id="4" name="Text 2"/>
          <p:cNvSpPr/>
          <p:nvPr/>
        </p:nvSpPr>
        <p:spPr>
          <a:xfrm>
            <a:off x="381000" y="1123950"/>
            <a:ext cx="8382000" cy="838200"/>
          </a:xfrm>
          <a:prstGeom prst="roundRect">
            <a:avLst>
              <a:gd name="adj" fmla="val 6818"/>
            </a:avLst>
          </a:prstGeom>
          <a:solidFill>
            <a:srgbClr val="1E3A8A"/>
          </a:solidFill>
          <a:ln/>
        </p:spPr>
        <p:txBody>
          <a:bodyPr wrap="square" rtlCol="0" anchor="ctr"/>
          <a:lstStyle/>
          <a:p>
            <a:pPr indent="0" marL="0">
              <a:buNone/>
            </a:pPr>
            <a:endParaRPr lang="en-US" dirty="0"/>
          </a:p>
        </p:txBody>
      </p:sp>
      <p:sp>
        <p:nvSpPr>
          <p:cNvPr id="5" name="Text 3"/>
          <p:cNvSpPr/>
          <p:nvPr/>
        </p:nvSpPr>
        <p:spPr>
          <a:xfrm>
            <a:off x="514350" y="1295400"/>
            <a:ext cx="8277606"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Near-Term (6-12 Months)</a:t>
            </a:r>
            <a:endParaRPr lang="en-US" sz="1200" dirty="0"/>
          </a:p>
        </p:txBody>
      </p:sp>
      <p:sp>
        <p:nvSpPr>
          <p:cNvPr id="6" name="Text 4"/>
          <p:cNvSpPr/>
          <p:nvPr/>
        </p:nvSpPr>
        <p:spPr>
          <a:xfrm>
            <a:off x="514350" y="1600200"/>
            <a:ext cx="8277606"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Budget controls for research, Anthropic provider integration, enhanced monitoring dashboards, and expanded Guardrail policies</a:t>
            </a:r>
            <a:endParaRPr lang="en-US" sz="1050" dirty="0"/>
          </a:p>
        </p:txBody>
      </p:sp>
      <p:sp>
        <p:nvSpPr>
          <p:cNvPr id="7" name="Text 5"/>
          <p:cNvSpPr/>
          <p:nvPr/>
        </p:nvSpPr>
        <p:spPr>
          <a:xfrm>
            <a:off x="381000" y="2076450"/>
            <a:ext cx="8382000" cy="1028700"/>
          </a:xfrm>
          <a:prstGeom prst="roundRect">
            <a:avLst>
              <a:gd name="adj" fmla="val 5556"/>
            </a:avLst>
          </a:prstGeom>
          <a:solidFill>
            <a:srgbClr val="0D9488"/>
          </a:solidFill>
          <a:ln/>
        </p:spPr>
        <p:txBody>
          <a:bodyPr wrap="square" rtlCol="0" anchor="ctr"/>
          <a:lstStyle/>
          <a:p>
            <a:pPr indent="0" marL="0">
              <a:buNone/>
            </a:pPr>
            <a:endParaRPr lang="en-US" dirty="0"/>
          </a:p>
        </p:txBody>
      </p:sp>
      <p:sp>
        <p:nvSpPr>
          <p:cNvPr id="8" name="Text 6"/>
          <p:cNvSpPr/>
          <p:nvPr/>
        </p:nvSpPr>
        <p:spPr>
          <a:xfrm>
            <a:off x="514350" y="2247900"/>
            <a:ext cx="8277606"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Mid-Term (12-24 Months)</a:t>
            </a:r>
            <a:endParaRPr lang="en-US" sz="1200" dirty="0"/>
          </a:p>
        </p:txBody>
      </p:sp>
      <p:sp>
        <p:nvSpPr>
          <p:cNvPr id="9" name="Text 7"/>
          <p:cNvSpPr/>
          <p:nvPr/>
        </p:nvSpPr>
        <p:spPr>
          <a:xfrm>
            <a:off x="514350" y="2552700"/>
            <a:ext cx="8277606"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Open-weight models via TSP, Small Language Models for specialized use cases, advanced agentic AI capabilities, and Model Context Protocol evaluation</a:t>
            </a:r>
            <a:endParaRPr lang="en-US" sz="1050" dirty="0"/>
          </a:p>
        </p:txBody>
      </p:sp>
      <p:sp>
        <p:nvSpPr>
          <p:cNvPr id="10" name="Text 8"/>
          <p:cNvSpPr/>
          <p:nvPr/>
        </p:nvSpPr>
        <p:spPr>
          <a:xfrm>
            <a:off x="381000" y="3219450"/>
            <a:ext cx="8382000" cy="1066800"/>
          </a:xfrm>
          <a:prstGeom prst="roundRect">
            <a:avLst>
              <a:gd name="adj" fmla="val 5357"/>
            </a:avLst>
          </a:prstGeom>
          <a:solidFill>
            <a:srgbClr val="F3F4F6"/>
          </a:solidFill>
          <a:ln w="19050">
            <a:solidFill>
              <a:srgbClr val="1E3A8A"/>
            </a:solidFill>
          </a:ln>
        </p:spPr>
        <p:txBody>
          <a:bodyPr wrap="square" rtlCol="0" anchor="ctr"/>
          <a:lstStyle/>
          <a:p>
            <a:pPr indent="0" marL="0">
              <a:buNone/>
            </a:pPr>
            <a:endParaRPr lang="en-US" dirty="0"/>
          </a:p>
        </p:txBody>
      </p:sp>
      <p:sp>
        <p:nvSpPr>
          <p:cNvPr id="11" name="Text 9"/>
          <p:cNvSpPr/>
          <p:nvPr/>
        </p:nvSpPr>
        <p:spPr>
          <a:xfrm>
            <a:off x="533400" y="3409950"/>
            <a:ext cx="8238744"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1E3A8A"/>
                </a:solidFill>
                <a:latin typeface="Arial" pitchFamily="34" charset="0"/>
                <a:ea typeface="Arial" pitchFamily="34" charset="-122"/>
                <a:cs typeface="Arial" pitchFamily="34" charset="-120"/>
              </a:rPr>
              <a:t>Strategic Evaluation (Future)</a:t>
            </a:r>
            <a:endParaRPr lang="en-US" sz="1200" dirty="0"/>
          </a:p>
        </p:txBody>
      </p:sp>
      <p:sp>
        <p:nvSpPr>
          <p:cNvPr id="12" name="Text 10"/>
          <p:cNvSpPr/>
          <p:nvPr/>
        </p:nvSpPr>
        <p:spPr>
          <a:xfrm>
            <a:off x="533400" y="3714750"/>
            <a:ext cx="8238744"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A2C and A2A frameworks, custom model development, fine-tuning capabilities, additional cloud provider integrations, and advanced compliance automation</a:t>
            </a:r>
            <a:endParaRPr lang="en-US" sz="1050" dirty="0"/>
          </a:p>
        </p:txBody>
      </p:sp>
      <p:sp>
        <p:nvSpPr>
          <p:cNvPr id="13" name="Text 11"/>
          <p:cNvSpPr/>
          <p:nvPr/>
        </p:nvSpPr>
        <p:spPr>
          <a:xfrm>
            <a:off x="381000" y="4400550"/>
            <a:ext cx="4114800" cy="419100"/>
          </a:xfrm>
          <a:prstGeom prst="roundRect">
            <a:avLst>
              <a:gd name="adj" fmla="val 13636"/>
            </a:avLst>
          </a:prstGeom>
          <a:solidFill>
            <a:srgbClr val="F59E0B"/>
          </a:solidFill>
          <a:ln/>
        </p:spPr>
        <p:txBody>
          <a:bodyPr wrap="square" rtlCol="0" anchor="ctr"/>
          <a:lstStyle/>
          <a:p>
            <a:pPr indent="0" marL="0">
              <a:buNone/>
            </a:pPr>
            <a:endParaRPr lang="en-US" dirty="0"/>
          </a:p>
        </p:txBody>
      </p:sp>
      <p:sp>
        <p:nvSpPr>
          <p:cNvPr id="14" name="Text 12"/>
          <p:cNvSpPr/>
          <p:nvPr/>
        </p:nvSpPr>
        <p:spPr>
          <a:xfrm>
            <a:off x="476250" y="4533900"/>
            <a:ext cx="4002786" cy="152400"/>
          </a:xfrm>
          <a:prstGeom prst="rect">
            <a:avLst/>
          </a:prstGeom>
          <a:noFill/>
          <a:ln/>
        </p:spPr>
        <p:txBody>
          <a:bodyPr wrap="square" lIns="0" tIns="0" rIns="0" bIns="0" rtlCol="0" anchor="t"/>
          <a:lstStyle/>
          <a:p>
            <a:pPr algn="l" indent="0" marL="0">
              <a:lnSpc>
                <a:spcPts val="1200"/>
              </a:lnSpc>
              <a:spcBef>
                <a:spcPts val="300"/>
              </a:spcBef>
              <a:spcAft>
                <a:spcPts val="300"/>
              </a:spcAft>
              <a:buNone/>
            </a:pPr>
            <a:r>
              <a:rPr lang="en-US" sz="900" b="1" dirty="0">
                <a:solidFill>
                  <a:srgbClr val="1F2937"/>
                </a:solidFill>
                <a:latin typeface="Arial" pitchFamily="34" charset="0"/>
                <a:ea typeface="Arial" pitchFamily="34" charset="-122"/>
                <a:cs typeface="Arial" pitchFamily="34" charset="-120"/>
              </a:rPr>
              <a:t>Principles: Security-first, phased rollout, business value alignment</a:t>
            </a:r>
            <a:endParaRPr lang="en-US" sz="900" dirty="0"/>
          </a:p>
        </p:txBody>
      </p:sp>
      <p:sp>
        <p:nvSpPr>
          <p:cNvPr id="15" name="Text 13"/>
          <p:cNvSpPr/>
          <p:nvPr/>
        </p:nvSpPr>
        <p:spPr>
          <a:xfrm>
            <a:off x="4648200" y="4400550"/>
            <a:ext cx="4114800" cy="419100"/>
          </a:xfrm>
          <a:prstGeom prst="roundRect">
            <a:avLst>
              <a:gd name="adj" fmla="val 13636"/>
            </a:avLst>
          </a:prstGeom>
          <a:solidFill>
            <a:srgbClr val="1E3A8A"/>
          </a:solidFill>
          <a:ln/>
        </p:spPr>
        <p:txBody>
          <a:bodyPr wrap="square" rtlCol="0" anchor="ctr"/>
          <a:lstStyle/>
          <a:p>
            <a:pPr indent="0" marL="0">
              <a:buNone/>
            </a:pPr>
            <a:endParaRPr lang="en-US" dirty="0"/>
          </a:p>
        </p:txBody>
      </p:sp>
      <p:sp>
        <p:nvSpPr>
          <p:cNvPr id="16" name="Text 14"/>
          <p:cNvSpPr/>
          <p:nvPr/>
        </p:nvSpPr>
        <p:spPr>
          <a:xfrm>
            <a:off x="4743450" y="4533900"/>
            <a:ext cx="4002786" cy="152400"/>
          </a:xfrm>
          <a:prstGeom prst="rect">
            <a:avLst/>
          </a:prstGeom>
          <a:noFill/>
          <a:ln/>
        </p:spPr>
        <p:txBody>
          <a:bodyPr wrap="square" lIns="0" tIns="0" rIns="0" bIns="0" rtlCol="0" anchor="t"/>
          <a:lstStyle/>
          <a:p>
            <a:pPr algn="l" indent="0" marL="0">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All expansions evaluated through TSP lens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14300" cy="5143500"/>
          </a:xfrm>
          <a:prstGeom prst="rect">
            <a:avLst/>
          </a:prstGeom>
          <a:solidFill>
            <a:srgbClr val="1E3A8A"/>
          </a:solidFill>
          <a:ln/>
        </p:spPr>
        <p:txBody>
          <a:bodyPr wrap="square" rtlCol="0" anchor="ctr"/>
          <a:lstStyle/>
          <a:p>
            <a:pPr indent="0" marL="0">
              <a:buNone/>
            </a:pPr>
            <a:endParaRPr lang="en-US" dirty="0"/>
          </a:p>
        </p:txBody>
      </p:sp>
      <p:sp>
        <p:nvSpPr>
          <p:cNvPr id="3" name="Text 1"/>
          <p:cNvSpPr/>
          <p:nvPr/>
        </p:nvSpPr>
        <p:spPr>
          <a:xfrm>
            <a:off x="266700" y="390525"/>
            <a:ext cx="4478845" cy="342900"/>
          </a:xfrm>
          <a:prstGeom prst="rect">
            <a:avLst/>
          </a:prstGeom>
          <a:noFill/>
          <a:ln/>
        </p:spPr>
        <p:txBody>
          <a:bodyPr wrap="square" lIns="0" tIns="0" rIns="0" bIns="0" rtlCol="0" anchor="t"/>
          <a:lstStyle/>
          <a:p>
            <a:pPr algn="l" indent="0" marL="0">
              <a:lnSpc>
                <a:spcPts val="2700"/>
              </a:lnSpc>
              <a:buNone/>
            </a:pPr>
            <a:r>
              <a:rPr lang="en-US" sz="2250" b="1" dirty="0">
                <a:solidFill>
                  <a:srgbClr val="1E3A8A"/>
                </a:solidFill>
                <a:latin typeface="Arial" pitchFamily="34" charset="0"/>
                <a:ea typeface="Arial" pitchFamily="34" charset="-122"/>
                <a:cs typeface="Arial" pitchFamily="34" charset="-120"/>
              </a:rPr>
              <a:t>Summary &amp; Next Steps</a:t>
            </a:r>
            <a:endParaRPr lang="en-US" sz="2250" dirty="0"/>
          </a:p>
        </p:txBody>
      </p:sp>
      <p:sp>
        <p:nvSpPr>
          <p:cNvPr id="4" name="Text 2"/>
          <p:cNvSpPr/>
          <p:nvPr/>
        </p:nvSpPr>
        <p:spPr>
          <a:xfrm>
            <a:off x="381000" y="1000125"/>
            <a:ext cx="8382000" cy="1066800"/>
          </a:xfrm>
          <a:prstGeom prst="roundRect">
            <a:avLst>
              <a:gd name="adj" fmla="val 5357"/>
            </a:avLst>
          </a:prstGeom>
          <a:solidFill>
            <a:srgbClr val="1E3A8A"/>
          </a:solidFill>
          <a:ln/>
        </p:spPr>
        <p:txBody>
          <a:bodyPr wrap="square" rtlCol="0" anchor="ctr"/>
          <a:lstStyle/>
          <a:p>
            <a:pPr indent="0" marL="0">
              <a:buNone/>
            </a:pPr>
            <a:endParaRPr lang="en-US" dirty="0"/>
          </a:p>
        </p:txBody>
      </p:sp>
      <p:sp>
        <p:nvSpPr>
          <p:cNvPr id="5" name="Text 3"/>
          <p:cNvSpPr/>
          <p:nvPr/>
        </p:nvSpPr>
        <p:spPr>
          <a:xfrm>
            <a:off x="533400" y="1190625"/>
            <a:ext cx="8238744"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Security Posture Achieved</a:t>
            </a:r>
            <a:endParaRPr lang="en-US" sz="1200" dirty="0"/>
          </a:p>
        </p:txBody>
      </p:sp>
      <p:sp>
        <p:nvSpPr>
          <p:cNvPr id="6" name="Text 4"/>
          <p:cNvSpPr/>
          <p:nvPr/>
        </p:nvSpPr>
        <p:spPr>
          <a:xfrm>
            <a:off x="533400" y="1495425"/>
            <a:ext cx="8238744"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Comprehensive TSP governance, multi-layered security controls, inline content validation via Guardrails, complete SIEM auditability, enterprise compliance framework adherence, and high availability with planned multi-provider resilience</a:t>
            </a:r>
            <a:endParaRPr lang="en-US" sz="1050" dirty="0"/>
          </a:p>
        </p:txBody>
      </p:sp>
      <p:sp>
        <p:nvSpPr>
          <p:cNvPr id="7" name="Text 5"/>
          <p:cNvSpPr/>
          <p:nvPr/>
        </p:nvSpPr>
        <p:spPr>
          <a:xfrm>
            <a:off x="381000" y="2181225"/>
            <a:ext cx="4095750" cy="1219200"/>
          </a:xfrm>
          <a:prstGeom prst="roundRect">
            <a:avLst>
              <a:gd name="adj" fmla="val 4688"/>
            </a:avLst>
          </a:prstGeom>
          <a:solidFill>
            <a:srgbClr val="0D9488"/>
          </a:solidFill>
          <a:ln/>
        </p:spPr>
        <p:txBody>
          <a:bodyPr wrap="square" rtlCol="0" anchor="ctr"/>
          <a:lstStyle/>
          <a:p>
            <a:pPr indent="0" marL="0">
              <a:buNone/>
            </a:pPr>
            <a:endParaRPr lang="en-US" dirty="0"/>
          </a:p>
        </p:txBody>
      </p:sp>
      <p:sp>
        <p:nvSpPr>
          <p:cNvPr id="8" name="Text 6"/>
          <p:cNvSpPr/>
          <p:nvPr/>
        </p:nvSpPr>
        <p:spPr>
          <a:xfrm>
            <a:off x="514350" y="2352675"/>
            <a:ext cx="3905631"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FFFFFF"/>
                </a:solidFill>
                <a:latin typeface="Arial" pitchFamily="34" charset="0"/>
                <a:ea typeface="Arial" pitchFamily="34" charset="-122"/>
                <a:cs typeface="Arial" pitchFamily="34" charset="-120"/>
              </a:rPr>
              <a:t>Strategic Advantages</a:t>
            </a:r>
            <a:endParaRPr lang="en-US" sz="1200" dirty="0"/>
          </a:p>
        </p:txBody>
      </p:sp>
      <p:sp>
        <p:nvSpPr>
          <p:cNvPr id="9" name="Text 7"/>
          <p:cNvSpPr/>
          <p:nvPr/>
        </p:nvSpPr>
        <p:spPr>
          <a:xfrm>
            <a:off x="514350" y="2657475"/>
            <a:ext cx="3905631" cy="571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Platform-based control for rapid deployment, AWS-native reduced operational burden, scalable foundation ready for expansion</a:t>
            </a:r>
            <a:endParaRPr lang="en-US" sz="1050" dirty="0"/>
          </a:p>
        </p:txBody>
      </p:sp>
      <p:sp>
        <p:nvSpPr>
          <p:cNvPr id="10" name="Text 8"/>
          <p:cNvSpPr/>
          <p:nvPr/>
        </p:nvSpPr>
        <p:spPr>
          <a:xfrm>
            <a:off x="4629150" y="2257425"/>
            <a:ext cx="4133850" cy="1066800"/>
          </a:xfrm>
          <a:prstGeom prst="roundRect">
            <a:avLst>
              <a:gd name="adj" fmla="val 5357"/>
            </a:avLst>
          </a:prstGeom>
          <a:solidFill>
            <a:srgbClr val="F3F4F6"/>
          </a:solidFill>
          <a:ln w="19050">
            <a:solidFill>
              <a:srgbClr val="0D9488"/>
            </a:solidFill>
          </a:ln>
        </p:spPr>
        <p:txBody>
          <a:bodyPr wrap="square" rtlCol="0" anchor="ctr"/>
          <a:lstStyle/>
          <a:p>
            <a:pPr indent="0" marL="0">
              <a:buNone/>
            </a:pPr>
            <a:endParaRPr lang="en-US" dirty="0"/>
          </a:p>
        </p:txBody>
      </p:sp>
      <p:sp>
        <p:nvSpPr>
          <p:cNvPr id="11" name="Text 9"/>
          <p:cNvSpPr/>
          <p:nvPr/>
        </p:nvSpPr>
        <p:spPr>
          <a:xfrm>
            <a:off x="4781550" y="2447925"/>
            <a:ext cx="3905631" cy="228600"/>
          </a:xfrm>
          <a:prstGeom prst="rect">
            <a:avLst/>
          </a:prstGeom>
          <a:noFill/>
          <a:ln/>
        </p:spPr>
        <p:txBody>
          <a:bodyPr wrap="square" lIns="0" tIns="0" rIns="0" bIns="0" rtlCol="0" anchor="t"/>
          <a:lstStyle/>
          <a:p>
            <a:pPr algn="l" indent="0" marL="0">
              <a:lnSpc>
                <a:spcPts val="1800"/>
              </a:lnSpc>
              <a:spcBef>
                <a:spcPts val="300"/>
              </a:spcBef>
              <a:spcAft>
                <a:spcPts val="600"/>
              </a:spcAft>
              <a:buNone/>
            </a:pPr>
            <a:r>
              <a:rPr lang="en-US" sz="1200" b="1" dirty="0">
                <a:solidFill>
                  <a:srgbClr val="0D9488"/>
                </a:solidFill>
                <a:latin typeface="Arial" pitchFamily="34" charset="0"/>
                <a:ea typeface="Arial" pitchFamily="34" charset="-122"/>
                <a:cs typeface="Arial" pitchFamily="34" charset="-120"/>
              </a:rPr>
              <a:t>Risk Management</a:t>
            </a:r>
            <a:endParaRPr lang="en-US" sz="1200" dirty="0"/>
          </a:p>
        </p:txBody>
      </p:sp>
      <p:sp>
        <p:nvSpPr>
          <p:cNvPr id="12" name="Text 10"/>
          <p:cNvSpPr/>
          <p:nvPr/>
        </p:nvSpPr>
        <p:spPr>
          <a:xfrm>
            <a:off x="4781550" y="2752725"/>
            <a:ext cx="3905631" cy="3810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Defense-in-depth minimizes attack surface, proactive threat response, cost controls prevent budget overruns</a:t>
            </a:r>
            <a:endParaRPr lang="en-US" sz="1050" dirty="0"/>
          </a:p>
        </p:txBody>
      </p:sp>
      <p:sp>
        <p:nvSpPr>
          <p:cNvPr id="13" name="Text 11"/>
          <p:cNvSpPr/>
          <p:nvPr/>
        </p:nvSpPr>
        <p:spPr>
          <a:xfrm>
            <a:off x="381000" y="3514725"/>
            <a:ext cx="8382000" cy="819150"/>
          </a:xfrm>
          <a:prstGeom prst="roundRect">
            <a:avLst>
              <a:gd name="adj" fmla="val 6977"/>
            </a:avLst>
          </a:prstGeom>
          <a:solidFill>
            <a:srgbClr val="F59E0B"/>
          </a:solidFill>
          <a:ln/>
        </p:spPr>
        <p:txBody>
          <a:bodyPr wrap="square" rtlCol="0" anchor="ctr"/>
          <a:lstStyle/>
          <a:p>
            <a:pPr indent="0" marL="0">
              <a:buNone/>
            </a:pPr>
            <a:endParaRPr lang="en-US" dirty="0"/>
          </a:p>
        </p:txBody>
      </p:sp>
      <p:sp>
        <p:nvSpPr>
          <p:cNvPr id="14" name="Text 12"/>
          <p:cNvSpPr/>
          <p:nvPr/>
        </p:nvSpPr>
        <p:spPr>
          <a:xfrm>
            <a:off x="514350" y="3686175"/>
            <a:ext cx="8277606" cy="228600"/>
          </a:xfrm>
          <a:prstGeom prst="rect">
            <a:avLst/>
          </a:prstGeom>
          <a:noFill/>
          <a:ln/>
        </p:spPr>
        <p:txBody>
          <a:bodyPr wrap="square" lIns="0" tIns="0" rIns="0" bIns="0" rtlCol="0" anchor="t"/>
          <a:lstStyle/>
          <a:p>
            <a:pPr algn="l" indent="0" marL="0">
              <a:lnSpc>
                <a:spcPts val="1800"/>
              </a:lnSpc>
              <a:spcBef>
                <a:spcPts val="300"/>
              </a:spcBef>
              <a:spcAft>
                <a:spcPts val="450"/>
              </a:spcAft>
              <a:buNone/>
            </a:pPr>
            <a:r>
              <a:rPr lang="en-US" sz="1200" b="1" dirty="0">
                <a:solidFill>
                  <a:srgbClr val="1F2937"/>
                </a:solidFill>
                <a:latin typeface="Arial" pitchFamily="34" charset="0"/>
                <a:ea typeface="Arial" pitchFamily="34" charset="-122"/>
                <a:cs typeface="Arial" pitchFamily="34" charset="-120"/>
              </a:rPr>
              <a:t>Immediate Priorities</a:t>
            </a:r>
            <a:endParaRPr lang="en-US" sz="1200" dirty="0"/>
          </a:p>
        </p:txBody>
      </p:sp>
      <p:sp>
        <p:nvSpPr>
          <p:cNvPr id="15" name="Text 13"/>
          <p:cNvSpPr/>
          <p:nvPr/>
        </p:nvSpPr>
        <p:spPr>
          <a:xfrm>
            <a:off x="514350" y="3971925"/>
            <a:ext cx="8277606" cy="190500"/>
          </a:xfrm>
          <a:prstGeom prst="rect">
            <a:avLst/>
          </a:prstGeom>
          <a:noFill/>
          <a:ln/>
        </p:spPr>
        <p:txBody>
          <a:bodyPr wrap="square" lIns="0" tIns="0" rIns="0" bIns="0" rtlCol="0" anchor="t"/>
          <a:lstStyle/>
          <a:p>
            <a:pPr algn="l" indent="0" marL="0">
              <a:lnSpc>
                <a:spcPts val="1500"/>
              </a:lnSpc>
              <a:spcBef>
                <a:spcPts val="300"/>
              </a:spcBef>
              <a:spcAft>
                <a:spcPts val="300"/>
              </a:spcAft>
              <a:buNone/>
            </a:pPr>
            <a:r>
              <a:rPr lang="en-US" sz="1050" dirty="0">
                <a:solidFill>
                  <a:srgbClr val="1F2937"/>
                </a:solidFill>
                <a:latin typeface="Arial" pitchFamily="34" charset="0"/>
                <a:ea typeface="Arial" pitchFamily="34" charset="-122"/>
                <a:cs typeface="Arial" pitchFamily="34" charset="-120"/>
              </a:rPr>
              <a:t>Deploy research budget controls, initiate Anthropic integration, expand Guardrail policies, begin open-weight model TSP evaluation</a:t>
            </a:r>
            <a:endParaRPr lang="en-US" sz="1050" dirty="0"/>
          </a:p>
        </p:txBody>
      </p:sp>
      <p:sp>
        <p:nvSpPr>
          <p:cNvPr id="16" name="Text 14"/>
          <p:cNvSpPr/>
          <p:nvPr/>
        </p:nvSpPr>
        <p:spPr>
          <a:xfrm>
            <a:off x="381000" y="4448175"/>
            <a:ext cx="8382000" cy="495300"/>
          </a:xfrm>
          <a:prstGeom prst="roundRect">
            <a:avLst>
              <a:gd name="adj" fmla="val 11538"/>
            </a:avLst>
          </a:prstGeom>
          <a:solidFill>
            <a:srgbClr val="1E3A8A"/>
          </a:solidFill>
          <a:ln/>
        </p:spPr>
        <p:txBody>
          <a:bodyPr wrap="square" rtlCol="0" anchor="ctr"/>
          <a:lstStyle/>
          <a:p>
            <a:pPr indent="0" marL="0">
              <a:buNone/>
            </a:pPr>
            <a:endParaRPr lang="en-US" dirty="0"/>
          </a:p>
        </p:txBody>
      </p:sp>
      <p:sp>
        <p:nvSpPr>
          <p:cNvPr id="17" name="Text 15"/>
          <p:cNvSpPr/>
          <p:nvPr/>
        </p:nvSpPr>
        <p:spPr>
          <a:xfrm>
            <a:off x="413766" y="4600575"/>
            <a:ext cx="8316468" cy="190500"/>
          </a:xfrm>
          <a:prstGeom prst="rect">
            <a:avLst/>
          </a:prstGeom>
          <a:noFill/>
          <a:ln/>
        </p:spPr>
        <p:txBody>
          <a:bodyPr wrap="square" lIns="0" tIns="0" rIns="0" bIns="0" rtlCol="0" anchor="t"/>
          <a:lstStyle/>
          <a:p>
            <a:pPr algn="ctr" indent="0" marL="0">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Enterprise GenAI security is operational and positioned for controlled expansion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Enterprise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GenAI Security Architecture</dc:title>
  <dc:subject>GenAI Security Architecture</dc:subject>
  <dc:creator>Enterprise AI Security Team</dc:creator>
  <cp:lastModifiedBy>Enterprise AI Security Team</cp:lastModifiedBy>
  <cp:revision>1</cp:revision>
  <dcterms:created xsi:type="dcterms:W3CDTF">2026-01-11T23:41:24Z</dcterms:created>
  <dcterms:modified xsi:type="dcterms:W3CDTF">2026-01-11T23:41:24Z</dcterms:modified>
</cp:coreProperties>
</file>